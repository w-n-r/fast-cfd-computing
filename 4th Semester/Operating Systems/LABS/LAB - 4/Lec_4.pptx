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63" r:id="rId2"/>
    <p:sldId id="293" r:id="rId3"/>
    <p:sldId id="294" r:id="rId4"/>
    <p:sldId id="297" r:id="rId5"/>
    <p:sldId id="295" r:id="rId6"/>
    <p:sldId id="296" r:id="rId7"/>
    <p:sldId id="298" r:id="rId8"/>
    <p:sldId id="299" r:id="rId9"/>
    <p:sldId id="300" r:id="rId10"/>
    <p:sldId id="301" r:id="rId11"/>
    <p:sldId id="302" r:id="rId12"/>
    <p:sldId id="303" r:id="rId13"/>
    <p:sldId id="305" r:id="rId14"/>
    <p:sldId id="304" r:id="rId15"/>
    <p:sldId id="306" r:id="rId16"/>
    <p:sldId id="307" r:id="rId17"/>
    <p:sldId id="308" r:id="rId18"/>
    <p:sldId id="310" r:id="rId19"/>
    <p:sldId id="309" r:id="rId20"/>
    <p:sldId id="311" r:id="rId21"/>
    <p:sldId id="312" r:id="rId22"/>
    <p:sldId id="258" r:id="rId23"/>
    <p:sldId id="278" r:id="rId24"/>
    <p:sldId id="283" r:id="rId25"/>
    <p:sldId id="260" r:id="rId26"/>
    <p:sldId id="26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2208" autoAdjust="0"/>
  </p:normalViewPr>
  <p:slideViewPr>
    <p:cSldViewPr snapToGrid="0">
      <p:cViewPr varScale="1">
        <p:scale>
          <a:sx n="67" d="100"/>
          <a:sy n="67" d="100"/>
        </p:scale>
        <p:origin x="85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01AF6B-C4FE-4EA1-A509-AF1069220BAD}" type="datetimeFigureOut">
              <a:rPr lang="en-US" smtClean="0"/>
              <a:t>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79969C-D0A0-4992-B807-91821ACE8A45}" type="slidenum">
              <a:rPr lang="en-US" smtClean="0"/>
              <a:t>‹#›</a:t>
            </a:fld>
            <a:endParaRPr lang="en-US"/>
          </a:p>
        </p:txBody>
      </p:sp>
    </p:spTree>
    <p:extLst>
      <p:ext uri="{BB962C8B-B14F-4D97-AF65-F5344CB8AC3E}">
        <p14:creationId xmlns:p14="http://schemas.microsoft.com/office/powerpoint/2010/main" val="2191905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4CBEEF-DB3C-4E87-9F8A-14BB19E746AA}" type="slidenum">
              <a:rPr lang="en-US" smtClean="0"/>
              <a:t>1</a:t>
            </a:fld>
            <a:endParaRPr lang="en-US"/>
          </a:p>
        </p:txBody>
      </p:sp>
    </p:spTree>
    <p:extLst>
      <p:ext uri="{BB962C8B-B14F-4D97-AF65-F5344CB8AC3E}">
        <p14:creationId xmlns:p14="http://schemas.microsoft.com/office/powerpoint/2010/main" val="2671318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79969C-D0A0-4992-B807-91821ACE8A45}" type="slidenum">
              <a:rPr lang="en-US" smtClean="0"/>
              <a:t>14</a:t>
            </a:fld>
            <a:endParaRPr lang="en-US"/>
          </a:p>
        </p:txBody>
      </p:sp>
    </p:spTree>
    <p:extLst>
      <p:ext uri="{BB962C8B-B14F-4D97-AF65-F5344CB8AC3E}">
        <p14:creationId xmlns:p14="http://schemas.microsoft.com/office/powerpoint/2010/main" val="7467631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79969C-D0A0-4992-B807-91821ACE8A45}" type="slidenum">
              <a:rPr lang="en-US" smtClean="0"/>
              <a:t>23</a:t>
            </a:fld>
            <a:endParaRPr lang="en-US"/>
          </a:p>
        </p:txBody>
      </p:sp>
    </p:spTree>
    <p:extLst>
      <p:ext uri="{BB962C8B-B14F-4D97-AF65-F5344CB8AC3E}">
        <p14:creationId xmlns:p14="http://schemas.microsoft.com/office/powerpoint/2010/main" val="492428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0A33DB5-A5DA-475A-BDB7-65576B8444DD}" type="datetimeFigureOut">
              <a:rPr lang="en-US" smtClean="0"/>
              <a:t>2/13/2024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2B6276-AB4A-4CE7-910A-F2EE4ACAF86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6114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A33DB5-A5DA-475A-BDB7-65576B8444DD}" type="datetimeFigureOut">
              <a:rPr lang="en-US" smtClean="0"/>
              <a:t>2/13/2024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2B6276-AB4A-4CE7-910A-F2EE4ACAF86A}" type="slidenum">
              <a:rPr lang="en-US" smtClean="0"/>
              <a:t>‹#›</a:t>
            </a:fld>
            <a:endParaRPr lang="en-US"/>
          </a:p>
        </p:txBody>
      </p:sp>
    </p:spTree>
    <p:extLst>
      <p:ext uri="{BB962C8B-B14F-4D97-AF65-F5344CB8AC3E}">
        <p14:creationId xmlns:p14="http://schemas.microsoft.com/office/powerpoint/2010/main" val="1696133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A33DB5-A5DA-475A-BDB7-65576B8444DD}" type="datetimeFigureOut">
              <a:rPr lang="en-US" smtClean="0"/>
              <a:t>2/13/2024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2B6276-AB4A-4CE7-910A-F2EE4ACAF86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3857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A33DB5-A5DA-475A-BDB7-65576B8444DD}" type="datetimeFigureOut">
              <a:rPr lang="en-US" smtClean="0"/>
              <a:t>2/13/2024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2B6276-AB4A-4CE7-910A-F2EE4ACAF86A}" type="slidenum">
              <a:rPr lang="en-US" smtClean="0"/>
              <a:t>‹#›</a:t>
            </a:fld>
            <a:endParaRPr lang="en-US"/>
          </a:p>
        </p:txBody>
      </p:sp>
    </p:spTree>
    <p:extLst>
      <p:ext uri="{BB962C8B-B14F-4D97-AF65-F5344CB8AC3E}">
        <p14:creationId xmlns:p14="http://schemas.microsoft.com/office/powerpoint/2010/main" val="1286349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A33DB5-A5DA-475A-BDB7-65576B8444DD}" type="datetimeFigureOut">
              <a:rPr lang="en-US" smtClean="0"/>
              <a:t>2/13/2024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2B6276-AB4A-4CE7-910A-F2EE4ACAF86A}" type="slidenum">
              <a:rPr lang="en-US" smtClean="0"/>
              <a:t>‹#›</a:t>
            </a:fld>
            <a:endParaRPr lang="en-US"/>
          </a:p>
        </p:txBody>
      </p:sp>
    </p:spTree>
    <p:extLst>
      <p:ext uri="{BB962C8B-B14F-4D97-AF65-F5344CB8AC3E}">
        <p14:creationId xmlns:p14="http://schemas.microsoft.com/office/powerpoint/2010/main" val="3499675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0A33DB5-A5DA-475A-BDB7-65576B8444DD}" type="datetimeFigureOut">
              <a:rPr lang="en-US" smtClean="0"/>
              <a:t>2/13/2024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2B6276-AB4A-4CE7-910A-F2EE4ACAF86A}" type="slidenum">
              <a:rPr lang="en-US" smtClean="0"/>
              <a:t>‹#›</a:t>
            </a:fld>
            <a:endParaRPr lang="en-US"/>
          </a:p>
        </p:txBody>
      </p:sp>
    </p:spTree>
    <p:extLst>
      <p:ext uri="{BB962C8B-B14F-4D97-AF65-F5344CB8AC3E}">
        <p14:creationId xmlns:p14="http://schemas.microsoft.com/office/powerpoint/2010/main" val="179358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0A33DB5-A5DA-475A-BDB7-65576B8444DD}" type="datetimeFigureOut">
              <a:rPr lang="en-US" smtClean="0"/>
              <a:t>2/13/2024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DA2B6276-AB4A-4CE7-910A-F2EE4ACAF86A}" type="slidenum">
              <a:rPr lang="en-US" smtClean="0"/>
              <a:t>‹#›</a:t>
            </a:fld>
            <a:endParaRPr lang="en-US"/>
          </a:p>
        </p:txBody>
      </p:sp>
    </p:spTree>
    <p:extLst>
      <p:ext uri="{BB962C8B-B14F-4D97-AF65-F5344CB8AC3E}">
        <p14:creationId xmlns:p14="http://schemas.microsoft.com/office/powerpoint/2010/main" val="1523376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F0A33DB5-A5DA-475A-BDB7-65576B8444DD}" type="datetimeFigureOut">
              <a:rPr lang="en-US" smtClean="0"/>
              <a:t>2/13/2024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A2B6276-AB4A-4CE7-910A-F2EE4ACAF86A}" type="slidenum">
              <a:rPr lang="en-US" smtClean="0"/>
              <a:t>‹#›</a:t>
            </a:fld>
            <a:endParaRPr lang="en-US"/>
          </a:p>
        </p:txBody>
      </p:sp>
    </p:spTree>
    <p:extLst>
      <p:ext uri="{BB962C8B-B14F-4D97-AF65-F5344CB8AC3E}">
        <p14:creationId xmlns:p14="http://schemas.microsoft.com/office/powerpoint/2010/main" val="1014080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0A33DB5-A5DA-475A-BDB7-65576B8444DD}" type="datetimeFigureOut">
              <a:rPr lang="en-US" smtClean="0"/>
              <a:t>2/13/2024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2B6276-AB4A-4CE7-910A-F2EE4ACAF86A}" type="slidenum">
              <a:rPr lang="en-US" smtClean="0"/>
              <a:t>‹#›</a:t>
            </a:fld>
            <a:endParaRPr lang="en-US"/>
          </a:p>
        </p:txBody>
      </p:sp>
    </p:spTree>
    <p:extLst>
      <p:ext uri="{BB962C8B-B14F-4D97-AF65-F5344CB8AC3E}">
        <p14:creationId xmlns:p14="http://schemas.microsoft.com/office/powerpoint/2010/main" val="468370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A33DB5-A5DA-475A-BDB7-65576B8444DD}" type="datetimeFigureOut">
              <a:rPr lang="en-US" smtClean="0"/>
              <a:t>2/13/2024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2B6276-AB4A-4CE7-910A-F2EE4ACAF86A}" type="slidenum">
              <a:rPr lang="en-US" smtClean="0"/>
              <a:t>‹#›</a:t>
            </a:fld>
            <a:endParaRPr lang="en-US"/>
          </a:p>
        </p:txBody>
      </p:sp>
    </p:spTree>
    <p:extLst>
      <p:ext uri="{BB962C8B-B14F-4D97-AF65-F5344CB8AC3E}">
        <p14:creationId xmlns:p14="http://schemas.microsoft.com/office/powerpoint/2010/main" val="2168068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A33DB5-A5DA-475A-BDB7-65576B8444DD}" type="datetimeFigureOut">
              <a:rPr lang="en-US" smtClean="0"/>
              <a:t>2/13/2024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2B6276-AB4A-4CE7-910A-F2EE4ACAF86A}" type="slidenum">
              <a:rPr lang="en-US" smtClean="0"/>
              <a:t>‹#›</a:t>
            </a:fld>
            <a:endParaRPr lang="en-US"/>
          </a:p>
        </p:txBody>
      </p:sp>
    </p:spTree>
    <p:extLst>
      <p:ext uri="{BB962C8B-B14F-4D97-AF65-F5344CB8AC3E}">
        <p14:creationId xmlns:p14="http://schemas.microsoft.com/office/powerpoint/2010/main" val="1650235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0A33DB5-A5DA-475A-BDB7-65576B8444DD}" type="datetimeFigureOut">
              <a:rPr lang="en-US" smtClean="0"/>
              <a:t>2/13/2024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A2B6276-AB4A-4CE7-910A-F2EE4ACAF86A}"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71935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2460766"/>
          </a:xfrm>
        </p:spPr>
        <p:txBody>
          <a:bodyPr/>
          <a:lstStyle/>
          <a:p>
            <a:r>
              <a:rPr lang="en-US" dirty="0"/>
              <a:t>OS Lab - Shell Scripting </a:t>
            </a:r>
          </a:p>
        </p:txBody>
      </p:sp>
      <p:sp>
        <p:nvSpPr>
          <p:cNvPr id="7" name="Date Placeholder 6"/>
          <p:cNvSpPr>
            <a:spLocks noGrp="1"/>
          </p:cNvSpPr>
          <p:nvPr>
            <p:ph type="dt" sz="half" idx="10"/>
          </p:nvPr>
        </p:nvSpPr>
        <p:spPr/>
        <p:txBody>
          <a:bodyPr/>
          <a:lstStyle/>
          <a:p>
            <a:fld id="{0A6B2BDE-7B5C-4B0F-AD64-FD2ADA6666F6}" type="datetime1">
              <a:rPr lang="en-US" smtClean="0"/>
              <a:t>2/13/2024</a:t>
            </a:fld>
            <a:endParaRPr lang="en-US"/>
          </a:p>
        </p:txBody>
      </p:sp>
      <p:sp>
        <p:nvSpPr>
          <p:cNvPr id="8" name="Slide Number Placeholder 7"/>
          <p:cNvSpPr>
            <a:spLocks noGrp="1"/>
          </p:cNvSpPr>
          <p:nvPr>
            <p:ph type="sldNum" sz="quarter" idx="12"/>
          </p:nvPr>
        </p:nvSpPr>
        <p:spPr/>
        <p:txBody>
          <a:bodyPr/>
          <a:lstStyle/>
          <a:p>
            <a:fld id="{09C0EFF0-E5AC-4D4D-8249-F470C04F0EE9}" type="slidenum">
              <a:rPr lang="en-US" smtClean="0"/>
              <a:t>1</a:t>
            </a:fld>
            <a:endParaRPr lang="en-US"/>
          </a:p>
        </p:txBody>
      </p:sp>
      <p:pic>
        <p:nvPicPr>
          <p:cNvPr id="11" name="Picture 3"/>
          <p:cNvPicPr>
            <a:picLocks noChangeAspect="1" noChangeArrowheads="1"/>
          </p:cNvPicPr>
          <p:nvPr/>
        </p:nvPicPr>
        <p:blipFill>
          <a:blip r:embed="rId3"/>
          <a:srcRect/>
          <a:stretch>
            <a:fillRect/>
          </a:stretch>
        </p:blipFill>
        <p:spPr bwMode="auto">
          <a:xfrm>
            <a:off x="5675291" y="5267459"/>
            <a:ext cx="1065459" cy="897229"/>
          </a:xfrm>
          <a:prstGeom prst="rect">
            <a:avLst/>
          </a:prstGeom>
          <a:noFill/>
          <a:ln w="9525">
            <a:noFill/>
            <a:round/>
            <a:headEnd/>
            <a:tailEnd/>
          </a:ln>
        </p:spPr>
      </p:pic>
    </p:spTree>
    <p:extLst>
      <p:ext uri="{BB962C8B-B14F-4D97-AF65-F5344CB8AC3E}">
        <p14:creationId xmlns:p14="http://schemas.microsoft.com/office/powerpoint/2010/main" val="2779971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Statement</a:t>
            </a:r>
          </a:p>
        </p:txBody>
      </p:sp>
      <p:pic>
        <p:nvPicPr>
          <p:cNvPr id="4" name="Content Placeholder 3"/>
          <p:cNvPicPr>
            <a:picLocks noGrp="1" noChangeAspect="1"/>
          </p:cNvPicPr>
          <p:nvPr>
            <p:ph idx="1"/>
          </p:nvPr>
        </p:nvPicPr>
        <p:blipFill>
          <a:blip r:embed="rId2"/>
          <a:stretch>
            <a:fillRect/>
          </a:stretch>
        </p:blipFill>
        <p:spPr>
          <a:xfrm>
            <a:off x="3581401" y="1975077"/>
            <a:ext cx="4204154" cy="4093881"/>
          </a:xfrm>
          <a:prstGeom prst="rect">
            <a:avLst/>
          </a:prstGeom>
        </p:spPr>
      </p:pic>
    </p:spTree>
    <p:extLst>
      <p:ext uri="{BB962C8B-B14F-4D97-AF65-F5344CB8AC3E}">
        <p14:creationId xmlns:p14="http://schemas.microsoft.com/office/powerpoint/2010/main" val="1387637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p>
        </p:txBody>
      </p:sp>
      <p:pic>
        <p:nvPicPr>
          <p:cNvPr id="4" name="Content Placeholder 3"/>
          <p:cNvPicPr>
            <a:picLocks noGrp="1" noChangeAspect="1"/>
          </p:cNvPicPr>
          <p:nvPr>
            <p:ph idx="1"/>
          </p:nvPr>
        </p:nvPicPr>
        <p:blipFill>
          <a:blip r:embed="rId2"/>
          <a:stretch>
            <a:fillRect/>
          </a:stretch>
        </p:blipFill>
        <p:spPr>
          <a:xfrm>
            <a:off x="370115" y="1857148"/>
            <a:ext cx="6341460" cy="4022725"/>
          </a:xfrm>
          <a:prstGeom prst="rect">
            <a:avLst/>
          </a:prstGeom>
        </p:spPr>
      </p:pic>
      <p:pic>
        <p:nvPicPr>
          <p:cNvPr id="5" name="Picture 4"/>
          <p:cNvPicPr>
            <a:picLocks noChangeAspect="1"/>
          </p:cNvPicPr>
          <p:nvPr/>
        </p:nvPicPr>
        <p:blipFill>
          <a:blip r:embed="rId3"/>
          <a:stretch>
            <a:fillRect/>
          </a:stretch>
        </p:blipFill>
        <p:spPr>
          <a:xfrm>
            <a:off x="7209744" y="2417989"/>
            <a:ext cx="4238625" cy="2305050"/>
          </a:xfrm>
          <a:prstGeom prst="rect">
            <a:avLst/>
          </a:prstGeom>
        </p:spPr>
      </p:pic>
    </p:spTree>
    <p:extLst>
      <p:ext uri="{BB962C8B-B14F-4D97-AF65-F5344CB8AC3E}">
        <p14:creationId xmlns:p14="http://schemas.microsoft.com/office/powerpoint/2010/main" val="2010415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9308" y="2289575"/>
            <a:ext cx="10058400" cy="1450757"/>
          </a:xfrm>
        </p:spPr>
        <p:txBody>
          <a:bodyPr>
            <a:normAutofit/>
          </a:bodyPr>
          <a:lstStyle/>
          <a:p>
            <a:pPr algn="ctr"/>
            <a:r>
              <a:rPr lang="en-US" sz="7200" b="1" dirty="0"/>
              <a:t>LOOPS</a:t>
            </a:r>
          </a:p>
        </p:txBody>
      </p:sp>
    </p:spTree>
    <p:extLst>
      <p:ext uri="{BB962C8B-B14F-4D97-AF65-F5344CB8AC3E}">
        <p14:creationId xmlns:p14="http://schemas.microsoft.com/office/powerpoint/2010/main" val="1073414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While Loop</a:t>
            </a:r>
          </a:p>
        </p:txBody>
      </p:sp>
      <p:pic>
        <p:nvPicPr>
          <p:cNvPr id="4" name="Picture 3"/>
          <p:cNvPicPr>
            <a:picLocks noChangeAspect="1"/>
          </p:cNvPicPr>
          <p:nvPr/>
        </p:nvPicPr>
        <p:blipFill>
          <a:blip r:embed="rId2"/>
          <a:stretch>
            <a:fillRect/>
          </a:stretch>
        </p:blipFill>
        <p:spPr>
          <a:xfrm>
            <a:off x="3863918" y="2481732"/>
            <a:ext cx="4065644" cy="2166468"/>
          </a:xfrm>
          <a:prstGeom prst="rect">
            <a:avLst/>
          </a:prstGeom>
        </p:spPr>
      </p:pic>
      <p:sp>
        <p:nvSpPr>
          <p:cNvPr id="5" name="TextBox 4">
            <a:extLst>
              <a:ext uri="{FF2B5EF4-FFF2-40B4-BE49-F238E27FC236}">
                <a16:creationId xmlns:a16="http://schemas.microsoft.com/office/drawing/2014/main" id="{3E2A04AD-10BA-43F7-931C-7898457EC0A2}"/>
              </a:ext>
            </a:extLst>
          </p:cNvPr>
          <p:cNvSpPr txBox="1"/>
          <p:nvPr/>
        </p:nvSpPr>
        <p:spPr>
          <a:xfrm>
            <a:off x="9318171" y="2481943"/>
            <a:ext cx="2148115" cy="2677656"/>
          </a:xfrm>
          <a:prstGeom prst="rect">
            <a:avLst/>
          </a:prstGeom>
          <a:noFill/>
        </p:spPr>
        <p:txBody>
          <a:bodyPr wrap="square" rtlCol="0">
            <a:spAutoFit/>
          </a:bodyPr>
          <a:lstStyle/>
          <a:p>
            <a:r>
              <a:rPr lang="en-US" sz="2800" dirty="0"/>
              <a:t>While (</a:t>
            </a:r>
            <a:r>
              <a:rPr lang="en-US" sz="2800" dirty="0" err="1"/>
              <a:t>stmt</a:t>
            </a:r>
            <a:r>
              <a:rPr lang="en-US" sz="2800" dirty="0"/>
              <a:t>)</a:t>
            </a:r>
          </a:p>
          <a:p>
            <a:r>
              <a:rPr lang="en-US" sz="2800" dirty="0"/>
              <a:t>{//start</a:t>
            </a:r>
          </a:p>
          <a:p>
            <a:endParaRPr lang="en-US" sz="2800" dirty="0"/>
          </a:p>
          <a:p>
            <a:r>
              <a:rPr lang="en-US" sz="2800" dirty="0"/>
              <a:t>//////</a:t>
            </a:r>
          </a:p>
          <a:p>
            <a:endParaRPr lang="en-US" sz="2800" dirty="0"/>
          </a:p>
          <a:p>
            <a:r>
              <a:rPr lang="en-US" sz="2800" dirty="0"/>
              <a:t>}//end</a:t>
            </a:r>
          </a:p>
        </p:txBody>
      </p:sp>
    </p:spTree>
    <p:extLst>
      <p:ext uri="{BB962C8B-B14F-4D97-AF65-F5344CB8AC3E}">
        <p14:creationId xmlns:p14="http://schemas.microsoft.com/office/powerpoint/2010/main" val="1646531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Content Placeholder 3"/>
          <p:cNvPicPr>
            <a:picLocks noGrp="1" noChangeAspect="1"/>
          </p:cNvPicPr>
          <p:nvPr>
            <p:ph idx="1"/>
          </p:nvPr>
        </p:nvPicPr>
        <p:blipFill>
          <a:blip r:embed="rId2"/>
          <a:stretch>
            <a:fillRect/>
          </a:stretch>
        </p:blipFill>
        <p:spPr>
          <a:xfrm>
            <a:off x="1586140" y="2093459"/>
            <a:ext cx="4029075" cy="3571875"/>
          </a:xfrm>
          <a:prstGeom prst="rect">
            <a:avLst/>
          </a:prstGeom>
        </p:spPr>
      </p:pic>
      <p:pic>
        <p:nvPicPr>
          <p:cNvPr id="5" name="Picture 4"/>
          <p:cNvPicPr>
            <a:picLocks noChangeAspect="1"/>
          </p:cNvPicPr>
          <p:nvPr/>
        </p:nvPicPr>
        <p:blipFill>
          <a:blip r:embed="rId3"/>
          <a:stretch>
            <a:fillRect/>
          </a:stretch>
        </p:blipFill>
        <p:spPr>
          <a:xfrm>
            <a:off x="6204177" y="1737360"/>
            <a:ext cx="5248275" cy="4067175"/>
          </a:xfrm>
          <a:prstGeom prst="rect">
            <a:avLst/>
          </a:prstGeom>
        </p:spPr>
      </p:pic>
    </p:spTree>
    <p:extLst>
      <p:ext uri="{BB962C8B-B14F-4D97-AF65-F5344CB8AC3E}">
        <p14:creationId xmlns:p14="http://schemas.microsoft.com/office/powerpoint/2010/main" val="745582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Until Loop</a:t>
            </a:r>
          </a:p>
        </p:txBody>
      </p:sp>
      <p:pic>
        <p:nvPicPr>
          <p:cNvPr id="4" name="Content Placeholder 3"/>
          <p:cNvPicPr>
            <a:picLocks noGrp="1" noChangeAspect="1"/>
          </p:cNvPicPr>
          <p:nvPr>
            <p:ph idx="1"/>
          </p:nvPr>
        </p:nvPicPr>
        <p:blipFill>
          <a:blip r:embed="rId2"/>
          <a:stretch>
            <a:fillRect/>
          </a:stretch>
        </p:blipFill>
        <p:spPr>
          <a:xfrm>
            <a:off x="3514474" y="2443163"/>
            <a:ext cx="4026581" cy="2520341"/>
          </a:xfrm>
          <a:prstGeom prst="rect">
            <a:avLst/>
          </a:prstGeom>
        </p:spPr>
      </p:pic>
    </p:spTree>
    <p:extLst>
      <p:ext uri="{BB962C8B-B14F-4D97-AF65-F5344CB8AC3E}">
        <p14:creationId xmlns:p14="http://schemas.microsoft.com/office/powerpoint/2010/main" val="3518399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Content Placeholder 3"/>
          <p:cNvPicPr>
            <a:picLocks noGrp="1" noChangeAspect="1"/>
          </p:cNvPicPr>
          <p:nvPr>
            <p:ph idx="1"/>
          </p:nvPr>
        </p:nvPicPr>
        <p:blipFill>
          <a:blip r:embed="rId2"/>
          <a:stretch>
            <a:fillRect/>
          </a:stretch>
        </p:blipFill>
        <p:spPr>
          <a:xfrm>
            <a:off x="3622766" y="2145846"/>
            <a:ext cx="3800475" cy="3619500"/>
          </a:xfrm>
          <a:prstGeom prst="rect">
            <a:avLst/>
          </a:prstGeom>
        </p:spPr>
      </p:pic>
    </p:spTree>
    <p:extLst>
      <p:ext uri="{BB962C8B-B14F-4D97-AF65-F5344CB8AC3E}">
        <p14:creationId xmlns:p14="http://schemas.microsoft.com/office/powerpoint/2010/main" val="3235329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pic>
        <p:nvPicPr>
          <p:cNvPr id="4" name="Content Placeholder 3"/>
          <p:cNvPicPr>
            <a:picLocks noGrp="1" noChangeAspect="1"/>
          </p:cNvPicPr>
          <p:nvPr>
            <p:ph idx="1"/>
          </p:nvPr>
        </p:nvPicPr>
        <p:blipFill>
          <a:blip r:embed="rId2"/>
          <a:stretch>
            <a:fillRect/>
          </a:stretch>
        </p:blipFill>
        <p:spPr>
          <a:xfrm>
            <a:off x="478972" y="2065564"/>
            <a:ext cx="3928609" cy="2567516"/>
          </a:xfrm>
          <a:prstGeom prst="rect">
            <a:avLst/>
          </a:prstGeom>
        </p:spPr>
      </p:pic>
      <p:pic>
        <p:nvPicPr>
          <p:cNvPr id="5" name="Picture 4"/>
          <p:cNvPicPr>
            <a:picLocks noChangeAspect="1"/>
          </p:cNvPicPr>
          <p:nvPr/>
        </p:nvPicPr>
        <p:blipFill>
          <a:blip r:embed="rId3"/>
          <a:stretch>
            <a:fillRect/>
          </a:stretch>
        </p:blipFill>
        <p:spPr>
          <a:xfrm>
            <a:off x="4734605" y="2076450"/>
            <a:ext cx="3724275" cy="3533775"/>
          </a:xfrm>
          <a:prstGeom prst="rect">
            <a:avLst/>
          </a:prstGeom>
        </p:spPr>
      </p:pic>
      <p:pic>
        <p:nvPicPr>
          <p:cNvPr id="6" name="Picture 5"/>
          <p:cNvPicPr>
            <a:picLocks noChangeAspect="1"/>
          </p:cNvPicPr>
          <p:nvPr/>
        </p:nvPicPr>
        <p:blipFill>
          <a:blip r:embed="rId4"/>
          <a:stretch>
            <a:fillRect/>
          </a:stretch>
        </p:blipFill>
        <p:spPr>
          <a:xfrm>
            <a:off x="8785904" y="2591328"/>
            <a:ext cx="3057753" cy="2009775"/>
          </a:xfrm>
          <a:prstGeom prst="rect">
            <a:avLst/>
          </a:prstGeom>
        </p:spPr>
      </p:pic>
      <p:sp>
        <p:nvSpPr>
          <p:cNvPr id="7" name="TextBox 6">
            <a:extLst>
              <a:ext uri="{FF2B5EF4-FFF2-40B4-BE49-F238E27FC236}">
                <a16:creationId xmlns:a16="http://schemas.microsoft.com/office/drawing/2014/main" id="{F5EA5A70-745F-42E1-974E-3C2186CD7FD7}"/>
              </a:ext>
            </a:extLst>
          </p:cNvPr>
          <p:cNvSpPr txBox="1"/>
          <p:nvPr/>
        </p:nvSpPr>
        <p:spPr>
          <a:xfrm>
            <a:off x="923925" y="4601103"/>
            <a:ext cx="3724275" cy="1815882"/>
          </a:xfrm>
          <a:prstGeom prst="rect">
            <a:avLst/>
          </a:prstGeom>
          <a:noFill/>
        </p:spPr>
        <p:txBody>
          <a:bodyPr wrap="square" rtlCol="0">
            <a:spAutoFit/>
          </a:bodyPr>
          <a:lstStyle/>
          <a:p>
            <a:r>
              <a:rPr lang="en-US" sz="2800" dirty="0"/>
              <a:t>for (int </a:t>
            </a:r>
            <a:r>
              <a:rPr lang="en-US" sz="2800" dirty="0" err="1"/>
              <a:t>i</a:t>
            </a:r>
            <a:r>
              <a:rPr lang="en-US" sz="2800" dirty="0"/>
              <a:t>=0; </a:t>
            </a:r>
            <a:r>
              <a:rPr lang="en-US" sz="2800" dirty="0" err="1"/>
              <a:t>i</a:t>
            </a:r>
            <a:r>
              <a:rPr lang="en-US" sz="2800" dirty="0"/>
              <a:t>&lt;10;i++)</a:t>
            </a:r>
          </a:p>
          <a:p>
            <a:r>
              <a:rPr lang="en-US" sz="2800" dirty="0"/>
              <a:t>{//start</a:t>
            </a:r>
          </a:p>
          <a:p>
            <a:r>
              <a:rPr lang="en-US" sz="2800" dirty="0"/>
              <a:t>//////</a:t>
            </a:r>
          </a:p>
          <a:p>
            <a:r>
              <a:rPr lang="en-US" sz="2800" dirty="0"/>
              <a:t>}//end</a:t>
            </a:r>
          </a:p>
        </p:txBody>
      </p:sp>
    </p:spTree>
    <p:extLst>
      <p:ext uri="{BB962C8B-B14F-4D97-AF65-F5344CB8AC3E}">
        <p14:creationId xmlns:p14="http://schemas.microsoft.com/office/powerpoint/2010/main" val="1393108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Ranges in for loop</a:t>
            </a:r>
          </a:p>
        </p:txBody>
      </p:sp>
      <p:pic>
        <p:nvPicPr>
          <p:cNvPr id="4" name="Content Placeholder 3"/>
          <p:cNvPicPr>
            <a:picLocks noGrp="1" noChangeAspect="1"/>
          </p:cNvPicPr>
          <p:nvPr>
            <p:ph idx="1"/>
          </p:nvPr>
        </p:nvPicPr>
        <p:blipFill>
          <a:blip r:embed="rId2"/>
          <a:stretch>
            <a:fillRect/>
          </a:stretch>
        </p:blipFill>
        <p:spPr>
          <a:xfrm>
            <a:off x="1265010" y="1992767"/>
            <a:ext cx="3952875" cy="3076575"/>
          </a:xfrm>
          <a:prstGeom prst="rect">
            <a:avLst/>
          </a:prstGeom>
        </p:spPr>
      </p:pic>
      <p:pic>
        <p:nvPicPr>
          <p:cNvPr id="5" name="Picture 4"/>
          <p:cNvPicPr>
            <a:picLocks noChangeAspect="1"/>
          </p:cNvPicPr>
          <p:nvPr/>
        </p:nvPicPr>
        <p:blipFill>
          <a:blip r:embed="rId3"/>
          <a:stretch>
            <a:fillRect/>
          </a:stretch>
        </p:blipFill>
        <p:spPr>
          <a:xfrm>
            <a:off x="6573611" y="2083254"/>
            <a:ext cx="4857750" cy="3105150"/>
          </a:xfrm>
          <a:prstGeom prst="rect">
            <a:avLst/>
          </a:prstGeom>
        </p:spPr>
      </p:pic>
    </p:spTree>
    <p:extLst>
      <p:ext uri="{BB962C8B-B14F-4D97-AF65-F5344CB8AC3E}">
        <p14:creationId xmlns:p14="http://schemas.microsoft.com/office/powerpoint/2010/main" val="1262145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 Statement</a:t>
            </a:r>
          </a:p>
        </p:txBody>
      </p:sp>
      <p:pic>
        <p:nvPicPr>
          <p:cNvPr id="4" name="Content Placeholder 3"/>
          <p:cNvPicPr>
            <a:picLocks noGrp="1" noChangeAspect="1"/>
          </p:cNvPicPr>
          <p:nvPr>
            <p:ph idx="1"/>
          </p:nvPr>
        </p:nvPicPr>
        <p:blipFill>
          <a:blip r:embed="rId2"/>
          <a:stretch>
            <a:fillRect/>
          </a:stretch>
        </p:blipFill>
        <p:spPr>
          <a:xfrm>
            <a:off x="3657600" y="2175783"/>
            <a:ext cx="3855811" cy="2520530"/>
          </a:xfrm>
          <a:prstGeom prst="rect">
            <a:avLst/>
          </a:prstGeom>
        </p:spPr>
      </p:pic>
    </p:spTree>
    <p:extLst>
      <p:ext uri="{BB962C8B-B14F-4D97-AF65-F5344CB8AC3E}">
        <p14:creationId xmlns:p14="http://schemas.microsoft.com/office/powerpoint/2010/main" val="555056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Content Placeholder 3"/>
          <p:cNvPicPr>
            <a:picLocks noGrp="1" noChangeAspect="1"/>
          </p:cNvPicPr>
          <p:nvPr>
            <p:ph idx="1"/>
          </p:nvPr>
        </p:nvPicPr>
        <p:blipFill>
          <a:blip r:embed="rId2"/>
          <a:stretch>
            <a:fillRect/>
          </a:stretch>
        </p:blipFill>
        <p:spPr>
          <a:xfrm>
            <a:off x="1401162" y="1835377"/>
            <a:ext cx="4237638" cy="4336823"/>
          </a:xfrm>
          <a:prstGeom prst="rect">
            <a:avLst/>
          </a:prstGeom>
        </p:spPr>
      </p:pic>
      <p:pic>
        <p:nvPicPr>
          <p:cNvPr id="5" name="Picture 4"/>
          <p:cNvPicPr>
            <a:picLocks noChangeAspect="1"/>
          </p:cNvPicPr>
          <p:nvPr/>
        </p:nvPicPr>
        <p:blipFill>
          <a:blip r:embed="rId3"/>
          <a:stretch>
            <a:fillRect/>
          </a:stretch>
        </p:blipFill>
        <p:spPr>
          <a:xfrm>
            <a:off x="6475640" y="2167618"/>
            <a:ext cx="4248150" cy="3371850"/>
          </a:xfrm>
          <a:prstGeom prst="rect">
            <a:avLst/>
          </a:prstGeom>
        </p:spPr>
      </p:pic>
    </p:spTree>
    <p:extLst>
      <p:ext uri="{BB962C8B-B14F-4D97-AF65-F5344CB8AC3E}">
        <p14:creationId xmlns:p14="http://schemas.microsoft.com/office/powerpoint/2010/main" val="152186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1965" y="2191603"/>
            <a:ext cx="10058400" cy="1450757"/>
          </a:xfrm>
        </p:spPr>
        <p:txBody>
          <a:bodyPr/>
          <a:lstStyle/>
          <a:p>
            <a:pPr algn="ctr"/>
            <a:r>
              <a:rPr lang="en-US" sz="7200" b="1" dirty="0"/>
              <a:t>Functions</a:t>
            </a:r>
            <a:r>
              <a:rPr lang="en-US" dirty="0"/>
              <a:t> </a:t>
            </a:r>
          </a:p>
        </p:txBody>
      </p:sp>
    </p:spTree>
    <p:extLst>
      <p:ext uri="{BB962C8B-B14F-4D97-AF65-F5344CB8AC3E}">
        <p14:creationId xmlns:p14="http://schemas.microsoft.com/office/powerpoint/2010/main" val="1592115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 function syntax</a:t>
            </a:r>
          </a:p>
        </p:txBody>
      </p:sp>
      <p:pic>
        <p:nvPicPr>
          <p:cNvPr id="4" name="Content Placeholder 3"/>
          <p:cNvPicPr>
            <a:picLocks noGrp="1" noChangeAspect="1"/>
          </p:cNvPicPr>
          <p:nvPr>
            <p:ph idx="1"/>
          </p:nvPr>
        </p:nvPicPr>
        <p:blipFill>
          <a:blip r:embed="rId3"/>
          <a:stretch>
            <a:fillRect/>
          </a:stretch>
        </p:blipFill>
        <p:spPr>
          <a:xfrm>
            <a:off x="434212" y="2111150"/>
            <a:ext cx="4282251" cy="2351994"/>
          </a:xfrm>
          <a:prstGeom prst="rect">
            <a:avLst/>
          </a:prstGeom>
        </p:spPr>
      </p:pic>
      <p:sp>
        <p:nvSpPr>
          <p:cNvPr id="5" name="Rectangle 4"/>
          <p:cNvSpPr/>
          <p:nvPr/>
        </p:nvSpPr>
        <p:spPr>
          <a:xfrm>
            <a:off x="5148941" y="2409984"/>
            <a:ext cx="6629401" cy="3539430"/>
          </a:xfrm>
          <a:prstGeom prst="rect">
            <a:avLst/>
          </a:prstGeom>
        </p:spPr>
        <p:txBody>
          <a:bodyPr wrap="square">
            <a:spAutoFit/>
          </a:bodyPr>
          <a:lstStyle/>
          <a:p>
            <a:pPr algn="just">
              <a:buFont typeface="Arial" panose="020B0604020202020204" pitchFamily="34" charset="0"/>
              <a:buChar char="•"/>
            </a:pPr>
            <a:r>
              <a:rPr lang="en-US" sz="2800" dirty="0">
                <a:solidFill>
                  <a:srgbClr val="333333"/>
                </a:solidFill>
                <a:latin typeface="Times New Roman" panose="02020603050405020304" pitchFamily="18" charset="0"/>
                <a:ea typeface="Tahoma" panose="020B0604030504040204" pitchFamily="34" charset="0"/>
                <a:cs typeface="Times New Roman" panose="02020603050405020304" pitchFamily="18" charset="0"/>
              </a:rPr>
              <a:t>In other programming languages it is common to have arguments passed to the function listed inside the brackets (). In Bash they are there only for decoration and you never put anything inside them.</a:t>
            </a:r>
          </a:p>
          <a:p>
            <a:pPr algn="just">
              <a:buFont typeface="Arial" panose="020B0604020202020204" pitchFamily="34" charset="0"/>
              <a:buChar char="•"/>
            </a:pPr>
            <a:r>
              <a:rPr lang="en-US" sz="2800" dirty="0">
                <a:solidFill>
                  <a:srgbClr val="333333"/>
                </a:solidFill>
                <a:latin typeface="Times New Roman" panose="02020603050405020304" pitchFamily="18" charset="0"/>
                <a:ea typeface="Tahoma" panose="020B0604030504040204" pitchFamily="34" charset="0"/>
                <a:cs typeface="Times New Roman" panose="02020603050405020304" pitchFamily="18" charset="0"/>
              </a:rPr>
              <a:t>The function definition ( the actual function itself) must appear in the script before any calls to the function.</a:t>
            </a:r>
            <a:endParaRPr lang="en-US" sz="2800"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636505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Content Placeholder 3"/>
          <p:cNvPicPr>
            <a:picLocks noGrp="1" noChangeAspect="1"/>
          </p:cNvPicPr>
          <p:nvPr>
            <p:ph idx="1"/>
          </p:nvPr>
        </p:nvPicPr>
        <p:blipFill>
          <a:blip r:embed="rId2"/>
          <a:stretch>
            <a:fillRect/>
          </a:stretch>
        </p:blipFill>
        <p:spPr>
          <a:xfrm>
            <a:off x="1384754" y="2113870"/>
            <a:ext cx="4924189" cy="3666444"/>
          </a:xfrm>
          <a:prstGeom prst="rect">
            <a:avLst/>
          </a:prstGeom>
        </p:spPr>
      </p:pic>
      <p:pic>
        <p:nvPicPr>
          <p:cNvPr id="5" name="Picture 4"/>
          <p:cNvPicPr>
            <a:picLocks noChangeAspect="1"/>
          </p:cNvPicPr>
          <p:nvPr/>
        </p:nvPicPr>
        <p:blipFill>
          <a:blip r:embed="rId3"/>
          <a:stretch>
            <a:fillRect/>
          </a:stretch>
        </p:blipFill>
        <p:spPr>
          <a:xfrm>
            <a:off x="6970939" y="2707821"/>
            <a:ext cx="4629150" cy="1485900"/>
          </a:xfrm>
          <a:prstGeom prst="rect">
            <a:avLst/>
          </a:prstGeom>
        </p:spPr>
      </p:pic>
    </p:spTree>
    <p:extLst>
      <p:ext uri="{BB962C8B-B14F-4D97-AF65-F5344CB8AC3E}">
        <p14:creationId xmlns:p14="http://schemas.microsoft.com/office/powerpoint/2010/main" val="3207043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Passing Arguments</a:t>
            </a:r>
          </a:p>
        </p:txBody>
      </p:sp>
      <p:pic>
        <p:nvPicPr>
          <p:cNvPr id="4" name="Content Placeholder 3"/>
          <p:cNvPicPr>
            <a:picLocks noGrp="1" noChangeAspect="1"/>
          </p:cNvPicPr>
          <p:nvPr>
            <p:ph idx="1"/>
          </p:nvPr>
        </p:nvPicPr>
        <p:blipFill>
          <a:blip r:embed="rId2"/>
          <a:stretch>
            <a:fillRect/>
          </a:stretch>
        </p:blipFill>
        <p:spPr>
          <a:xfrm>
            <a:off x="936398" y="2124075"/>
            <a:ext cx="4854802" cy="3786868"/>
          </a:xfrm>
          <a:prstGeom prst="rect">
            <a:avLst/>
          </a:prstGeom>
        </p:spPr>
      </p:pic>
      <p:pic>
        <p:nvPicPr>
          <p:cNvPr id="5" name="Picture 4"/>
          <p:cNvPicPr>
            <a:picLocks noChangeAspect="1"/>
          </p:cNvPicPr>
          <p:nvPr/>
        </p:nvPicPr>
        <p:blipFill>
          <a:blip r:embed="rId3"/>
          <a:stretch>
            <a:fillRect/>
          </a:stretch>
        </p:blipFill>
        <p:spPr>
          <a:xfrm>
            <a:off x="6526530" y="2783341"/>
            <a:ext cx="4629150" cy="1552575"/>
          </a:xfrm>
          <a:prstGeom prst="rect">
            <a:avLst/>
          </a:prstGeom>
        </p:spPr>
      </p:pic>
    </p:spTree>
    <p:extLst>
      <p:ext uri="{BB962C8B-B14F-4D97-AF65-F5344CB8AC3E}">
        <p14:creationId xmlns:p14="http://schemas.microsoft.com/office/powerpoint/2010/main" val="1656642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Returning Value</a:t>
            </a:r>
          </a:p>
        </p:txBody>
      </p:sp>
      <p:pic>
        <p:nvPicPr>
          <p:cNvPr id="4" name="Content Placeholder 3"/>
          <p:cNvPicPr>
            <a:picLocks noGrp="1" noChangeAspect="1"/>
          </p:cNvPicPr>
          <p:nvPr>
            <p:ph idx="1"/>
          </p:nvPr>
        </p:nvPicPr>
        <p:blipFill>
          <a:blip r:embed="rId2"/>
          <a:stretch>
            <a:fillRect/>
          </a:stretch>
        </p:blipFill>
        <p:spPr>
          <a:xfrm>
            <a:off x="543152" y="2145166"/>
            <a:ext cx="5727019" cy="3533775"/>
          </a:xfrm>
          <a:prstGeom prst="rect">
            <a:avLst/>
          </a:prstGeom>
        </p:spPr>
      </p:pic>
      <p:pic>
        <p:nvPicPr>
          <p:cNvPr id="5" name="Picture 4"/>
          <p:cNvPicPr>
            <a:picLocks noChangeAspect="1"/>
          </p:cNvPicPr>
          <p:nvPr/>
        </p:nvPicPr>
        <p:blipFill>
          <a:blip r:embed="rId3"/>
          <a:stretch>
            <a:fillRect/>
          </a:stretch>
        </p:blipFill>
        <p:spPr>
          <a:xfrm>
            <a:off x="6585858" y="2741839"/>
            <a:ext cx="5519056" cy="1809750"/>
          </a:xfrm>
          <a:prstGeom prst="rect">
            <a:avLst/>
          </a:prstGeom>
        </p:spPr>
      </p:pic>
    </p:spTree>
    <p:extLst>
      <p:ext uri="{BB962C8B-B14F-4D97-AF65-F5344CB8AC3E}">
        <p14:creationId xmlns:p14="http://schemas.microsoft.com/office/powerpoint/2010/main" val="3933901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Returning Value (Alternate way)</a:t>
            </a:r>
          </a:p>
        </p:txBody>
      </p:sp>
      <p:pic>
        <p:nvPicPr>
          <p:cNvPr id="6" name="Picture 5"/>
          <p:cNvPicPr>
            <a:picLocks noChangeAspect="1"/>
          </p:cNvPicPr>
          <p:nvPr/>
        </p:nvPicPr>
        <p:blipFill>
          <a:blip r:embed="rId2"/>
          <a:stretch>
            <a:fillRect/>
          </a:stretch>
        </p:blipFill>
        <p:spPr>
          <a:xfrm>
            <a:off x="633412" y="2309601"/>
            <a:ext cx="5743575" cy="3095625"/>
          </a:xfrm>
          <a:prstGeom prst="rect">
            <a:avLst/>
          </a:prstGeom>
        </p:spPr>
      </p:pic>
      <p:pic>
        <p:nvPicPr>
          <p:cNvPr id="7" name="Picture 6"/>
          <p:cNvPicPr>
            <a:picLocks noChangeAspect="1"/>
          </p:cNvPicPr>
          <p:nvPr/>
        </p:nvPicPr>
        <p:blipFill>
          <a:blip r:embed="rId3"/>
          <a:stretch>
            <a:fillRect/>
          </a:stretch>
        </p:blipFill>
        <p:spPr>
          <a:xfrm>
            <a:off x="6687230" y="2752513"/>
            <a:ext cx="5000625" cy="2209800"/>
          </a:xfrm>
          <a:prstGeom prst="rect">
            <a:avLst/>
          </a:prstGeom>
        </p:spPr>
      </p:pic>
    </p:spTree>
    <p:extLst>
      <p:ext uri="{BB962C8B-B14F-4D97-AF65-F5344CB8AC3E}">
        <p14:creationId xmlns:p14="http://schemas.microsoft.com/office/powerpoint/2010/main" val="1490119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Overriding commands</a:t>
            </a:r>
          </a:p>
        </p:txBody>
      </p:sp>
      <p:pic>
        <p:nvPicPr>
          <p:cNvPr id="5" name="Content Placeholder 4"/>
          <p:cNvPicPr>
            <a:picLocks noGrp="1" noChangeAspect="1"/>
          </p:cNvPicPr>
          <p:nvPr>
            <p:ph idx="1"/>
          </p:nvPr>
        </p:nvPicPr>
        <p:blipFill>
          <a:blip r:embed="rId2"/>
          <a:stretch>
            <a:fillRect/>
          </a:stretch>
        </p:blipFill>
        <p:spPr>
          <a:xfrm>
            <a:off x="998310" y="2177142"/>
            <a:ext cx="5248275" cy="3015344"/>
          </a:xfrm>
          <a:prstGeom prst="rect">
            <a:avLst/>
          </a:prstGeom>
        </p:spPr>
      </p:pic>
    </p:spTree>
    <p:extLst>
      <p:ext uri="{BB962C8B-B14F-4D97-AF65-F5344CB8AC3E}">
        <p14:creationId xmlns:p14="http://schemas.microsoft.com/office/powerpoint/2010/main" val="3927697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 scope</a:t>
            </a:r>
          </a:p>
        </p:txBody>
      </p:sp>
      <p:pic>
        <p:nvPicPr>
          <p:cNvPr id="4" name="Content Placeholder 3"/>
          <p:cNvPicPr>
            <a:picLocks noGrp="1" noChangeAspect="1"/>
          </p:cNvPicPr>
          <p:nvPr>
            <p:ph idx="1"/>
          </p:nvPr>
        </p:nvPicPr>
        <p:blipFill>
          <a:blip r:embed="rId2"/>
          <a:stretch>
            <a:fillRect/>
          </a:stretch>
        </p:blipFill>
        <p:spPr>
          <a:xfrm>
            <a:off x="433252" y="2070328"/>
            <a:ext cx="3057525" cy="657225"/>
          </a:xfrm>
          <a:prstGeom prst="rect">
            <a:avLst/>
          </a:prstGeom>
        </p:spPr>
      </p:pic>
      <p:pic>
        <p:nvPicPr>
          <p:cNvPr id="5" name="Picture 4"/>
          <p:cNvPicPr>
            <a:picLocks noChangeAspect="1"/>
          </p:cNvPicPr>
          <p:nvPr/>
        </p:nvPicPr>
        <p:blipFill>
          <a:blip r:embed="rId3"/>
          <a:stretch>
            <a:fillRect/>
          </a:stretch>
        </p:blipFill>
        <p:spPr>
          <a:xfrm>
            <a:off x="4706030" y="0"/>
            <a:ext cx="7286625" cy="5610225"/>
          </a:xfrm>
          <a:prstGeom prst="rect">
            <a:avLst/>
          </a:prstGeom>
        </p:spPr>
      </p:pic>
      <p:pic>
        <p:nvPicPr>
          <p:cNvPr id="6" name="Content Placeholder 3">
            <a:extLst>
              <a:ext uri="{FF2B5EF4-FFF2-40B4-BE49-F238E27FC236}">
                <a16:creationId xmlns:a16="http://schemas.microsoft.com/office/drawing/2014/main" id="{96795D5D-69D7-449C-9B5A-88F245319FB5}"/>
              </a:ext>
            </a:extLst>
          </p:cNvPr>
          <p:cNvPicPr>
            <a:picLocks noChangeAspect="1"/>
          </p:cNvPicPr>
          <p:nvPr/>
        </p:nvPicPr>
        <p:blipFill>
          <a:blip r:embed="rId4"/>
          <a:stretch>
            <a:fillRect/>
          </a:stretch>
        </p:blipFill>
        <p:spPr>
          <a:xfrm>
            <a:off x="0" y="5429749"/>
            <a:ext cx="9167138" cy="1991405"/>
          </a:xfrm>
          <a:prstGeom prst="rect">
            <a:avLst/>
          </a:prstGeom>
        </p:spPr>
      </p:pic>
    </p:spTree>
    <p:extLst>
      <p:ext uri="{BB962C8B-B14F-4D97-AF65-F5344CB8AC3E}">
        <p14:creationId xmlns:p14="http://schemas.microsoft.com/office/powerpoint/2010/main" val="583536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output </a:t>
            </a:r>
          </a:p>
        </p:txBody>
      </p:sp>
      <p:pic>
        <p:nvPicPr>
          <p:cNvPr id="4" name="Content Placeholder 3"/>
          <p:cNvPicPr>
            <a:picLocks noGrp="1" noChangeAspect="1"/>
          </p:cNvPicPr>
          <p:nvPr>
            <p:ph idx="1"/>
          </p:nvPr>
        </p:nvPicPr>
        <p:blipFill>
          <a:blip r:embed="rId2"/>
          <a:stretch>
            <a:fillRect/>
          </a:stretch>
        </p:blipFill>
        <p:spPr>
          <a:xfrm>
            <a:off x="1645325" y="2787424"/>
            <a:ext cx="9167138" cy="1991405"/>
          </a:xfrm>
          <a:prstGeom prst="rect">
            <a:avLst/>
          </a:prstGeom>
        </p:spPr>
      </p:pic>
    </p:spTree>
    <p:extLst>
      <p:ext uri="{BB962C8B-B14F-4D97-AF65-F5344CB8AC3E}">
        <p14:creationId xmlns:p14="http://schemas.microsoft.com/office/powerpoint/2010/main" val="14991280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Built-in Functions</a:t>
            </a:r>
          </a:p>
        </p:txBody>
      </p:sp>
      <p:sp>
        <p:nvSpPr>
          <p:cNvPr id="3" name="Content Placeholder 2"/>
          <p:cNvSpPr>
            <a:spLocks noGrp="1"/>
          </p:cNvSpPr>
          <p:nvPr>
            <p:ph idx="1"/>
          </p:nvPr>
        </p:nvSpPr>
        <p:spPr>
          <a:xfrm>
            <a:off x="1097280" y="1845733"/>
            <a:ext cx="10058400" cy="4486827"/>
          </a:xfrm>
        </p:spPr>
        <p:txBody>
          <a:bodyPr>
            <a:normAutofit/>
          </a:bodyPr>
          <a:lstStyle/>
          <a:p>
            <a:pPr>
              <a:buFont typeface="Wingdings" panose="05000000000000000000" pitchFamily="2" charset="2"/>
              <a:buChar char="q"/>
            </a:pPr>
            <a:r>
              <a:rPr lang="en-US" b="1" dirty="0"/>
              <a:t>Built-in functions</a:t>
            </a:r>
            <a:r>
              <a:rPr lang="en-US" dirty="0"/>
              <a:t> </a:t>
            </a:r>
          </a:p>
          <a:p>
            <a:pPr lvl="1">
              <a:buFont typeface="Wingdings" panose="05000000000000000000" pitchFamily="2" charset="2"/>
              <a:buChar char="q"/>
            </a:pPr>
            <a:r>
              <a:rPr lang="en-US" dirty="0"/>
              <a:t>Built- in functions are the function already defined in a programming language</a:t>
            </a:r>
          </a:p>
          <a:p>
            <a:pPr lvl="1">
              <a:buFont typeface="Wingdings" panose="05000000000000000000" pitchFamily="2" charset="2"/>
              <a:buChar char="q"/>
            </a:pPr>
            <a:r>
              <a:rPr lang="en-US" dirty="0"/>
              <a:t>the program does not require defining it</a:t>
            </a:r>
          </a:p>
          <a:p>
            <a:pPr lvl="1">
              <a:buFont typeface="Wingdings" panose="05000000000000000000" pitchFamily="2" charset="2"/>
              <a:buChar char="q"/>
            </a:pPr>
            <a:r>
              <a:rPr lang="en-US" dirty="0"/>
              <a:t>they directly use it with in their code</a:t>
            </a:r>
          </a:p>
          <a:p>
            <a:pPr lvl="1">
              <a:buFont typeface="Wingdings" panose="05000000000000000000" pitchFamily="2" charset="2"/>
              <a:buChar char="q"/>
            </a:pPr>
            <a:r>
              <a:rPr lang="en-US" dirty="0"/>
              <a:t>Some built-in functions are also defined in shell scripting e.g. random function etc.</a:t>
            </a:r>
          </a:p>
          <a:p>
            <a:r>
              <a:rPr lang="en-US" b="1" dirty="0"/>
              <a:t>Example</a:t>
            </a:r>
            <a:r>
              <a:rPr lang="en-US" dirty="0"/>
              <a:t>:</a:t>
            </a:r>
          </a:p>
          <a:p>
            <a:r>
              <a:rPr lang="pt-BR" sz="1900" dirty="0"/>
              <a:t>num_rows=4 </a:t>
            </a:r>
          </a:p>
          <a:p>
            <a:r>
              <a:rPr lang="pt-BR" sz="1900" dirty="0"/>
              <a:t>for ((i=1;i&lt;=num_rows;i++))</a:t>
            </a:r>
          </a:p>
          <a:p>
            <a:r>
              <a:rPr lang="pt-BR" sz="1900" dirty="0"/>
              <a:t> do </a:t>
            </a:r>
          </a:p>
          <a:p>
            <a:pPr marL="201168" lvl="1" indent="0">
              <a:buNone/>
            </a:pPr>
            <a:r>
              <a:rPr lang="pt-BR" sz="1700" dirty="0"/>
              <a:t>      echo $RANDOM </a:t>
            </a:r>
          </a:p>
          <a:p>
            <a:r>
              <a:rPr lang="pt-BR" sz="1900" dirty="0"/>
              <a:t>done</a:t>
            </a:r>
            <a:r>
              <a:rPr lang="en-US" sz="1900" dirty="0"/>
              <a:t> </a:t>
            </a:r>
          </a:p>
        </p:txBody>
      </p:sp>
      <p:sp>
        <p:nvSpPr>
          <p:cNvPr id="4" name="Date Placeholder 3"/>
          <p:cNvSpPr>
            <a:spLocks noGrp="1"/>
          </p:cNvSpPr>
          <p:nvPr>
            <p:ph type="dt" sz="half" idx="10"/>
          </p:nvPr>
        </p:nvSpPr>
        <p:spPr/>
        <p:txBody>
          <a:bodyPr/>
          <a:lstStyle/>
          <a:p>
            <a:fld id="{71E75872-FEE8-4270-AC9F-167CC52FF2AD}" type="datetime1">
              <a:rPr lang="en-US" smtClean="0"/>
              <a:t>2/13/2024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22</a:t>
            </a:fld>
            <a:endParaRPr lang="en-US"/>
          </a:p>
        </p:txBody>
      </p:sp>
    </p:spTree>
    <p:extLst>
      <p:ext uri="{BB962C8B-B14F-4D97-AF65-F5344CB8AC3E}">
        <p14:creationId xmlns:p14="http://schemas.microsoft.com/office/powerpoint/2010/main" val="14705854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Built-in Functions</a:t>
            </a:r>
          </a:p>
        </p:txBody>
      </p:sp>
      <p:sp>
        <p:nvSpPr>
          <p:cNvPr id="3" name="Content Placeholder 2"/>
          <p:cNvSpPr>
            <a:spLocks noGrp="1"/>
          </p:cNvSpPr>
          <p:nvPr>
            <p:ph idx="1"/>
          </p:nvPr>
        </p:nvSpPr>
        <p:spPr>
          <a:xfrm>
            <a:off x="1097280" y="1845733"/>
            <a:ext cx="10058400" cy="4486827"/>
          </a:xfrm>
        </p:spPr>
        <p:txBody>
          <a:bodyPr>
            <a:normAutofit/>
          </a:bodyPr>
          <a:lstStyle/>
          <a:p>
            <a:pPr>
              <a:buFont typeface="Wingdings" panose="05000000000000000000" pitchFamily="2" charset="2"/>
              <a:buChar char="q"/>
            </a:pPr>
            <a:r>
              <a:rPr lang="en-US" b="1" dirty="0"/>
              <a:t>Built-in functions</a:t>
            </a:r>
            <a:r>
              <a:rPr lang="en-US" dirty="0"/>
              <a:t> </a:t>
            </a:r>
          </a:p>
          <a:p>
            <a:pPr lvl="1">
              <a:buFont typeface="Wingdings" panose="05000000000000000000" pitchFamily="2" charset="2"/>
              <a:buChar char="q"/>
            </a:pPr>
            <a:r>
              <a:rPr lang="en-US" sz="2000" dirty="0"/>
              <a:t>Shift - </a:t>
            </a:r>
            <a:r>
              <a:rPr lang="en-US" sz="2000" dirty="0">
                <a:solidFill>
                  <a:srgbClr val="000000"/>
                </a:solidFill>
                <a:latin typeface="Arial Unicode MS" panose="020B0604020202020204" pitchFamily="34" charset="-128"/>
                <a:cs typeface="Times New Roman" panose="02020603050405020304" pitchFamily="18" charset="0"/>
              </a:rPr>
              <a:t>shift [</a:t>
            </a:r>
            <a:r>
              <a:rPr lang="en-US" sz="2000" i="1" dirty="0">
                <a:solidFill>
                  <a:srgbClr val="000000"/>
                </a:solidFill>
                <a:latin typeface="Arial Unicode MS" panose="020B0604020202020204" pitchFamily="34" charset="-128"/>
                <a:cs typeface="Times New Roman" panose="02020603050405020304" pitchFamily="18" charset="0"/>
              </a:rPr>
              <a:t>n</a:t>
            </a:r>
            <a:r>
              <a:rPr lang="en-US" sz="2000" dirty="0">
                <a:solidFill>
                  <a:srgbClr val="000000"/>
                </a:solidFill>
                <a:latin typeface="Arial Unicode MS" panose="020B0604020202020204" pitchFamily="34" charset="-128"/>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Shift the positional parameters to the left by </a:t>
            </a:r>
            <a:r>
              <a:rPr lang="en-US" sz="2000" i="1" dirty="0">
                <a:solidFill>
                  <a:srgbClr val="000000"/>
                </a:solidFill>
                <a:latin typeface="Times New Roman" panose="02020603050405020304" pitchFamily="18" charset="0"/>
                <a:cs typeface="Times New Roman" panose="02020603050405020304" pitchFamily="18" charset="0"/>
              </a:rPr>
              <a:t>n</a:t>
            </a:r>
            <a:r>
              <a:rPr lang="en-US" sz="2000" dirty="0">
                <a:solidFill>
                  <a:srgbClr val="000000"/>
                </a:solidFill>
                <a:latin typeface="Arial Unicode MS" panose="020B0604020202020204" pitchFamily="34" charset="-128"/>
                <a:cs typeface="Times New Roman" panose="02020603050405020304" pitchFamily="18" charset="0"/>
              </a:rPr>
              <a:t>)</a:t>
            </a:r>
          </a:p>
          <a:p>
            <a:pPr lvl="1">
              <a:buFont typeface="Wingdings" panose="05000000000000000000" pitchFamily="2" charset="2"/>
              <a:buChar char="q"/>
            </a:pPr>
            <a:r>
              <a:rPr lang="en-US" sz="2400" dirty="0">
                <a:latin typeface="Tahoma" panose="020B0604030504040204" pitchFamily="34" charset="0"/>
                <a:ea typeface="Tahoma" panose="020B0604030504040204" pitchFamily="34" charset="0"/>
                <a:cs typeface="Tahoma" panose="020B0604030504040204" pitchFamily="34" charset="0"/>
              </a:rPr>
              <a:t>Test- </a:t>
            </a:r>
            <a:r>
              <a:rPr lang="en-US" sz="2400" dirty="0">
                <a:solidFill>
                  <a:srgbClr val="000000"/>
                </a:solidFill>
                <a:latin typeface="Tahoma" panose="020B0604030504040204" pitchFamily="34" charset="0"/>
                <a:ea typeface="Tahoma" panose="020B0604030504040204" pitchFamily="34" charset="0"/>
                <a:cs typeface="Tahoma" panose="020B0604030504040204" pitchFamily="34" charset="0"/>
              </a:rPr>
              <a:t>test </a:t>
            </a:r>
            <a:r>
              <a:rPr lang="en-US" sz="2400" i="1" dirty="0" err="1">
                <a:solidFill>
                  <a:srgbClr val="000000"/>
                </a:solidFill>
                <a:latin typeface="Tahoma" panose="020B0604030504040204" pitchFamily="34" charset="0"/>
                <a:ea typeface="Tahoma" panose="020B0604030504040204" pitchFamily="34" charset="0"/>
                <a:cs typeface="Tahoma" panose="020B0604030504040204" pitchFamily="34" charset="0"/>
              </a:rPr>
              <a:t>expr</a:t>
            </a: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 ( evaluate a conditional expression and return status of 0/1)</a:t>
            </a:r>
          </a:p>
          <a:p>
            <a:pPr lvl="1">
              <a:buFont typeface="Wingdings" panose="05000000000000000000" pitchFamily="2" charset="2"/>
              <a:buChar char="q"/>
            </a:pPr>
            <a:endParaRPr lang="en-US" sz="24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lvl="1">
              <a:buFont typeface="Wingdings" panose="05000000000000000000" pitchFamily="2" charset="2"/>
              <a:buChar char="q"/>
            </a:pPr>
            <a:endParaRPr lang="en-US" sz="2800" dirty="0">
              <a:solidFill>
                <a:schemeClr val="tx1"/>
              </a:solidFill>
            </a:endParaRPr>
          </a:p>
          <a:p>
            <a:pPr lvl="1">
              <a:buFont typeface="Wingdings" panose="05000000000000000000" pitchFamily="2" charset="2"/>
              <a:buChar char="q"/>
            </a:pPr>
            <a:endParaRPr lang="en-US" sz="1900" dirty="0"/>
          </a:p>
        </p:txBody>
      </p:sp>
      <p:sp>
        <p:nvSpPr>
          <p:cNvPr id="4" name="Date Placeholder 3"/>
          <p:cNvSpPr>
            <a:spLocks noGrp="1"/>
          </p:cNvSpPr>
          <p:nvPr>
            <p:ph type="dt" sz="half" idx="10"/>
          </p:nvPr>
        </p:nvSpPr>
        <p:spPr/>
        <p:txBody>
          <a:bodyPr/>
          <a:lstStyle/>
          <a:p>
            <a:fld id="{71E75872-FEE8-4270-AC9F-167CC52FF2AD}" type="datetime1">
              <a:rPr lang="en-US" smtClean="0"/>
              <a:t>2/13/2024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23</a:t>
            </a:fld>
            <a:endParaRPr lang="en-US"/>
          </a:p>
        </p:txBody>
      </p:sp>
    </p:spTree>
    <p:extLst>
      <p:ext uri="{BB962C8B-B14F-4D97-AF65-F5344CB8AC3E}">
        <p14:creationId xmlns:p14="http://schemas.microsoft.com/office/powerpoint/2010/main" val="34192247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55888" y="535440"/>
            <a:ext cx="7018061" cy="4395789"/>
          </a:xfrm>
          <a:prstGeom prst="rect">
            <a:avLst/>
          </a:prstGeom>
        </p:spPr>
      </p:pic>
      <p:pic>
        <p:nvPicPr>
          <p:cNvPr id="5" name="Picture 4"/>
          <p:cNvPicPr>
            <a:picLocks noChangeAspect="1"/>
          </p:cNvPicPr>
          <p:nvPr/>
        </p:nvPicPr>
        <p:blipFill>
          <a:blip r:embed="rId3"/>
          <a:stretch>
            <a:fillRect/>
          </a:stretch>
        </p:blipFill>
        <p:spPr>
          <a:xfrm>
            <a:off x="5097411" y="2371044"/>
            <a:ext cx="5553075" cy="3857625"/>
          </a:xfrm>
          <a:prstGeom prst="rect">
            <a:avLst/>
          </a:prstGeom>
        </p:spPr>
      </p:pic>
    </p:spTree>
    <p:extLst>
      <p:ext uri="{BB962C8B-B14F-4D97-AF65-F5344CB8AC3E}">
        <p14:creationId xmlns:p14="http://schemas.microsoft.com/office/powerpoint/2010/main" val="1467731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 functions</a:t>
            </a:r>
          </a:p>
        </p:txBody>
      </p:sp>
      <p:sp>
        <p:nvSpPr>
          <p:cNvPr id="3" name="Content Placeholder 2"/>
          <p:cNvSpPr>
            <a:spLocks noGrp="1"/>
          </p:cNvSpPr>
          <p:nvPr>
            <p:ph idx="1"/>
          </p:nvPr>
        </p:nvSpPr>
        <p:spPr>
          <a:xfrm>
            <a:off x="1097280" y="1845733"/>
            <a:ext cx="10058400" cy="4477793"/>
          </a:xfrm>
        </p:spPr>
        <p:txBody>
          <a:bodyPr>
            <a:normAutofit/>
          </a:bodyPr>
          <a:lstStyle/>
          <a:p>
            <a:pPr>
              <a:buFont typeface="Wingdings" panose="05000000000000000000" pitchFamily="2" charset="2"/>
              <a:buChar char="q"/>
            </a:pPr>
            <a:endParaRPr lang="en-US" dirty="0"/>
          </a:p>
          <a:p>
            <a:pPr>
              <a:buFont typeface="Wingdings" panose="05000000000000000000" pitchFamily="2" charset="2"/>
              <a:buChar char="q"/>
            </a:pPr>
            <a:r>
              <a:rPr lang="en-US" dirty="0"/>
              <a:t>A recursive function is a function that calls itself during its execution.</a:t>
            </a:r>
          </a:p>
          <a:p>
            <a:pPr>
              <a:buFont typeface="Wingdings" panose="05000000000000000000" pitchFamily="2" charset="2"/>
              <a:buChar char="q"/>
            </a:pPr>
            <a:r>
              <a:rPr lang="en-US" dirty="0"/>
              <a:t>This enables the function to repeat itself several times</a:t>
            </a:r>
          </a:p>
          <a:p>
            <a:pPr lvl="1">
              <a:buFont typeface="Wingdings" panose="05000000000000000000" pitchFamily="2" charset="2"/>
              <a:buChar char="q"/>
            </a:pPr>
            <a:r>
              <a:rPr lang="en-US" dirty="0"/>
              <a:t>outputting the result at the end of each iteration</a:t>
            </a:r>
          </a:p>
        </p:txBody>
      </p:sp>
      <p:sp>
        <p:nvSpPr>
          <p:cNvPr id="4" name="Date Placeholder 3"/>
          <p:cNvSpPr>
            <a:spLocks noGrp="1"/>
          </p:cNvSpPr>
          <p:nvPr>
            <p:ph type="dt" sz="half" idx="10"/>
          </p:nvPr>
        </p:nvSpPr>
        <p:spPr/>
        <p:txBody>
          <a:bodyPr/>
          <a:lstStyle/>
          <a:p>
            <a:fld id="{71E75872-FEE8-4270-AC9F-167CC52FF2AD}" type="datetime1">
              <a:rPr lang="en-US" smtClean="0"/>
              <a:t>2/13/2024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25</a:t>
            </a:fld>
            <a:endParaRPr lang="en-US"/>
          </a:p>
        </p:txBody>
      </p:sp>
    </p:spTree>
    <p:extLst>
      <p:ext uri="{BB962C8B-B14F-4D97-AF65-F5344CB8AC3E}">
        <p14:creationId xmlns:p14="http://schemas.microsoft.com/office/powerpoint/2010/main" val="1673961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 functions</a:t>
            </a:r>
          </a:p>
        </p:txBody>
      </p:sp>
      <p:sp>
        <p:nvSpPr>
          <p:cNvPr id="3" name="Content Placeholder 2"/>
          <p:cNvSpPr>
            <a:spLocks noGrp="1"/>
          </p:cNvSpPr>
          <p:nvPr>
            <p:ph idx="1"/>
          </p:nvPr>
        </p:nvSpPr>
        <p:spPr>
          <a:xfrm>
            <a:off x="1097280" y="1845733"/>
            <a:ext cx="10058400" cy="4477793"/>
          </a:xfrm>
        </p:spPr>
        <p:txBody>
          <a:bodyPr>
            <a:normAutofit/>
          </a:bodyPr>
          <a:lstStyle/>
          <a:p>
            <a:pPr>
              <a:buFont typeface="Wingdings" panose="05000000000000000000" pitchFamily="2" charset="2"/>
              <a:buChar char="q"/>
            </a:pPr>
            <a:r>
              <a:rPr lang="en-US" dirty="0"/>
              <a:t>You can write a recursive function in shell script</a:t>
            </a:r>
          </a:p>
          <a:p>
            <a:pPr>
              <a:buFont typeface="Wingdings" panose="05000000000000000000" pitchFamily="2" charset="2"/>
              <a:buChar char="q"/>
            </a:pPr>
            <a:r>
              <a:rPr lang="en-US" dirty="0"/>
              <a:t>Example </a:t>
            </a:r>
          </a:p>
          <a:p>
            <a:pPr marL="1471400" lvl="8" indent="0">
              <a:buNone/>
            </a:pPr>
            <a:r>
              <a:rPr lang="en-US" sz="1800" dirty="0"/>
              <a:t>array=(1 2 3 4) </a:t>
            </a:r>
          </a:p>
          <a:p>
            <a:pPr marL="1471400" lvl="8" indent="0">
              <a:buNone/>
            </a:pPr>
            <a:r>
              <a:rPr lang="en-US" sz="1800" dirty="0"/>
              <a:t>f() { </a:t>
            </a:r>
          </a:p>
          <a:p>
            <a:pPr marL="1471400" lvl="8" indent="0">
              <a:buNone/>
            </a:pPr>
            <a:r>
              <a:rPr lang="en-US" sz="1800" dirty="0"/>
              <a:t>	 if [ "$1 == -1 ]   </a:t>
            </a:r>
          </a:p>
          <a:p>
            <a:pPr marL="1471400" lvl="8" indent="0">
              <a:buNone/>
            </a:pPr>
            <a:r>
              <a:rPr lang="en-US" sz="1800" dirty="0"/>
              <a:t>	then </a:t>
            </a:r>
          </a:p>
          <a:p>
            <a:pPr marL="1471400" lvl="8" indent="0">
              <a:buNone/>
            </a:pPr>
            <a:r>
              <a:rPr lang="en-US" sz="1800" dirty="0"/>
              <a:t>		 return  </a:t>
            </a:r>
          </a:p>
          <a:p>
            <a:pPr marL="1471400" lvl="8" indent="0">
              <a:buNone/>
            </a:pPr>
            <a:r>
              <a:rPr lang="en-US" sz="1800" dirty="0"/>
              <a:t>	else  </a:t>
            </a:r>
          </a:p>
          <a:p>
            <a:pPr marL="1471400" lvl="8" indent="0">
              <a:buNone/>
            </a:pPr>
            <a:r>
              <a:rPr lang="en-US" sz="1800" dirty="0"/>
              <a:t>		 a=$1  </a:t>
            </a:r>
          </a:p>
          <a:p>
            <a:pPr marL="1471400" lvl="8" indent="0">
              <a:buNone/>
            </a:pPr>
            <a:r>
              <a:rPr lang="en-US" sz="1800" dirty="0"/>
              <a:t>		 echo $((array[$a]))  //2,1,</a:t>
            </a:r>
          </a:p>
          <a:p>
            <a:pPr marL="1471400" lvl="8" indent="0">
              <a:buNone/>
            </a:pPr>
            <a:r>
              <a:rPr lang="en-US" sz="1800" dirty="0"/>
              <a:t>		 </a:t>
            </a:r>
            <a:r>
              <a:rPr lang="en-US" sz="1800" b="1" dirty="0"/>
              <a:t>f $((a-1))</a:t>
            </a:r>
            <a:r>
              <a:rPr lang="en-US" sz="1800" dirty="0"/>
              <a:t> #recursive function call</a:t>
            </a:r>
          </a:p>
          <a:p>
            <a:pPr marL="1471400" lvl="8" indent="0">
              <a:buNone/>
            </a:pPr>
            <a:r>
              <a:rPr lang="en-US" sz="1800" dirty="0"/>
              <a:t>	  fi  }  </a:t>
            </a:r>
          </a:p>
          <a:p>
            <a:pPr marL="1471400" lvl="8" indent="0">
              <a:buNone/>
            </a:pPr>
            <a:r>
              <a:rPr lang="en-US" sz="1800" dirty="0"/>
              <a:t>f 1 #function call with parameter </a:t>
            </a:r>
          </a:p>
        </p:txBody>
      </p:sp>
      <p:sp>
        <p:nvSpPr>
          <p:cNvPr id="4" name="Date Placeholder 3"/>
          <p:cNvSpPr>
            <a:spLocks noGrp="1"/>
          </p:cNvSpPr>
          <p:nvPr>
            <p:ph type="dt" sz="half" idx="10"/>
          </p:nvPr>
        </p:nvSpPr>
        <p:spPr/>
        <p:txBody>
          <a:bodyPr/>
          <a:lstStyle/>
          <a:p>
            <a:fld id="{71E75872-FEE8-4270-AC9F-167CC52FF2AD}" type="datetime1">
              <a:rPr lang="en-US" smtClean="0"/>
              <a:t>2/13/2024</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26</a:t>
            </a:fld>
            <a:endParaRPr lang="en-US"/>
          </a:p>
        </p:txBody>
      </p:sp>
    </p:spTree>
    <p:extLst>
      <p:ext uri="{BB962C8B-B14F-4D97-AF65-F5344CB8AC3E}">
        <p14:creationId xmlns:p14="http://schemas.microsoft.com/office/powerpoint/2010/main" val="1279623443"/>
      </p:ext>
    </p:extLst>
  </p:cSld>
  <p:clrMapOvr>
    <a:masterClrMapping/>
  </p:clrMapOvr>
</p:sld>
</file>

<file path=ppt/theme/theme1.xml><?xml version="1.0" encoding="utf-8"?>
<a:theme xmlns:a="http://schemas.openxmlformats.org/drawingml/2006/main" name="Theme1">
  <a:themeElements>
    <a:clrScheme name="Retrospect">
      <a:dk1>
        <a:srgbClr val="000000"/>
      </a:dk1>
      <a:lt1>
        <a:srgbClr val="FFFFFF"/>
      </a:lt1>
      <a:dk2>
        <a:srgbClr val="46464A"/>
      </a:dk2>
      <a:lt2>
        <a:srgbClr val="D1D9E1"/>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heme1" id="{D905A6A7-E93D-43F8-8033-8348AD499E38}" vid="{AC61E5C4-7D41-4E0B-9EB7-D59521FA3B5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3191</TotalTime>
  <Words>365</Words>
  <Application>Microsoft Office PowerPoint</Application>
  <PresentationFormat>Widescreen</PresentationFormat>
  <Paragraphs>82</Paragraphs>
  <Slides>26</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Arial Unicode MS</vt:lpstr>
      <vt:lpstr>Calibri</vt:lpstr>
      <vt:lpstr>Calibri Light</vt:lpstr>
      <vt:lpstr>Tahoma</vt:lpstr>
      <vt:lpstr>Times New Roman</vt:lpstr>
      <vt:lpstr>Wingdings</vt:lpstr>
      <vt:lpstr>Theme1</vt:lpstr>
      <vt:lpstr>OS Lab - Shell Scripting </vt:lpstr>
      <vt:lpstr>Case Statement</vt:lpstr>
      <vt:lpstr>Example </vt:lpstr>
      <vt:lpstr>LOOPS</vt:lpstr>
      <vt:lpstr>While Loop</vt:lpstr>
      <vt:lpstr>Example</vt:lpstr>
      <vt:lpstr>Until Loop</vt:lpstr>
      <vt:lpstr>Example</vt:lpstr>
      <vt:lpstr>For Loop</vt:lpstr>
      <vt:lpstr>Ranges in for loop</vt:lpstr>
      <vt:lpstr>Select Statement</vt:lpstr>
      <vt:lpstr>Example</vt:lpstr>
      <vt:lpstr>Functions </vt:lpstr>
      <vt:lpstr>Simple function syntax</vt:lpstr>
      <vt:lpstr>Example</vt:lpstr>
      <vt:lpstr>Passing Arguments</vt:lpstr>
      <vt:lpstr>Returning Value</vt:lpstr>
      <vt:lpstr>Returning Value (Alternate way)</vt:lpstr>
      <vt:lpstr>Overriding commands</vt:lpstr>
      <vt:lpstr>Variable scope</vt:lpstr>
      <vt:lpstr>Example output </vt:lpstr>
      <vt:lpstr>Built-in Functions</vt:lpstr>
      <vt:lpstr>Built-in Functions</vt:lpstr>
      <vt:lpstr>PowerPoint Presentation</vt:lpstr>
      <vt:lpstr>Recursive functions</vt:lpstr>
      <vt:lpstr>Recursive functions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sumaira mustafa</dc:creator>
  <cp:lastModifiedBy>Aqsa Younas</cp:lastModifiedBy>
  <cp:revision>82</cp:revision>
  <dcterms:created xsi:type="dcterms:W3CDTF">2018-10-09T04:50:08Z</dcterms:created>
  <dcterms:modified xsi:type="dcterms:W3CDTF">2024-02-13T08:52:31Z</dcterms:modified>
</cp:coreProperties>
</file>