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63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>
      <p:cViewPr>
        <p:scale>
          <a:sx n="90" d="100"/>
          <a:sy n="90" d="100"/>
        </p:scale>
        <p:origin x="624" y="-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742C-E74F-4838-960D-622D847225D7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4FCD-DB8E-4619-BA66-BBC2ABCFC7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742C-E74F-4838-960D-622D847225D7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4FCD-DB8E-4619-BA66-BBC2ABCFC7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742C-E74F-4838-960D-622D847225D7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4FCD-DB8E-4619-BA66-BBC2ABCFC7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742C-E74F-4838-960D-622D847225D7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4FCD-DB8E-4619-BA66-BBC2ABCFC7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742C-E74F-4838-960D-622D847225D7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4FCD-DB8E-4619-BA66-BBC2ABCFC7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742C-E74F-4838-960D-622D847225D7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4FCD-DB8E-4619-BA66-BBC2ABCFC7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742C-E74F-4838-960D-622D847225D7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4FCD-DB8E-4619-BA66-BBC2ABCFC7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742C-E74F-4838-960D-622D847225D7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4FCD-DB8E-4619-BA66-BBC2ABCFC7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742C-E74F-4838-960D-622D847225D7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4FCD-DB8E-4619-BA66-BBC2ABCFC7E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742C-E74F-4838-960D-622D847225D7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4FCD-DB8E-4619-BA66-BBC2ABCFC7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E742C-E74F-4838-960D-622D847225D7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B4FCD-DB8E-4619-BA66-BBC2ABCFC7E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5CAE742C-E74F-4838-960D-622D847225D7}" type="datetimeFigureOut">
              <a:rPr lang="en-US" smtClean="0"/>
              <a:t>2/1/2023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E60B4FCD-DB8E-4619-BA66-BBC2ABCFC7E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Khilafat Movement &amp; Non- Cooperation Movement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2334768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</a:endParaRPr>
          </a:p>
          <a:p>
            <a:pPr algn="l"/>
            <a:endParaRPr lang="en-US" b="1" dirty="0">
              <a:solidFill>
                <a:schemeClr val="tx1"/>
              </a:solidFill>
            </a:endParaRPr>
          </a:p>
          <a:p>
            <a:pPr algn="l"/>
            <a:endParaRPr lang="en-US" b="1" dirty="0">
              <a:solidFill>
                <a:schemeClr val="tx1"/>
              </a:solidFill>
            </a:endParaRPr>
          </a:p>
          <a:p>
            <a:pPr algn="l"/>
            <a:endParaRPr lang="en-US" b="1" dirty="0">
              <a:solidFill>
                <a:schemeClr val="tx1"/>
              </a:solidFill>
            </a:endParaRPr>
          </a:p>
          <a:p>
            <a:pPr algn="l"/>
            <a:endParaRPr lang="en-US" b="1" dirty="0">
              <a:solidFill>
                <a:schemeClr val="tx1"/>
              </a:solidFill>
            </a:endParaRPr>
          </a:p>
          <a:p>
            <a:pPr algn="l"/>
            <a:endParaRPr lang="en-US" b="1" dirty="0">
              <a:solidFill>
                <a:schemeClr val="tx1"/>
              </a:solidFill>
            </a:endParaRPr>
          </a:p>
          <a:p>
            <a:pPr algn="l"/>
            <a:r>
              <a:rPr lang="en-US" b="1" dirty="0">
                <a:solidFill>
                  <a:schemeClr val="tx1"/>
                </a:solidFill>
              </a:rPr>
              <a:t>Dr. Asif Naveed</a:t>
            </a:r>
          </a:p>
          <a:p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74630-7306-4232-BC51-1CE5334B7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4132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Historical Background.</a:t>
            </a:r>
          </a:p>
          <a:p>
            <a:pPr marL="0" indent="0" algn="just">
              <a:buNone/>
            </a:pPr>
            <a:r>
              <a:rPr lang="en-US" dirty="0"/>
              <a:t>The origin of Khilafat movement lies in the conception of relationship formulated by the Holy Quran which states” He hath appointed you  his vicegerents  in the earth.(6:165)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Arab term in Vicegerents is </a:t>
            </a:r>
            <a:r>
              <a:rPr lang="en-US" dirty="0" err="1"/>
              <a:t>Khalifah</a:t>
            </a:r>
            <a:r>
              <a:rPr lang="en-US" dirty="0"/>
              <a:t> which word known as pre Islamic time.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fact the term “Caliph” </a:t>
            </a:r>
            <a:r>
              <a:rPr lang="en-US" dirty="0" err="1"/>
              <a:t>Khalifah</a:t>
            </a:r>
            <a:r>
              <a:rPr lang="en-US" dirty="0"/>
              <a:t> received successor to the Prophet.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818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9BA08-39FF-4A56-8B68-D51BE1AC6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7180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err="1"/>
              <a:t>Kahalifat</a:t>
            </a:r>
            <a:r>
              <a:rPr lang="en-US" b="1" dirty="0"/>
              <a:t> in </a:t>
            </a:r>
            <a:r>
              <a:rPr lang="en-US" b="1" dirty="0" err="1"/>
              <a:t>islam</a:t>
            </a:r>
            <a:r>
              <a:rPr lang="en-US" b="1" dirty="0"/>
              <a:t>:</a:t>
            </a:r>
          </a:p>
          <a:p>
            <a:pPr marL="0" indent="0" algn="just">
              <a:buNone/>
            </a:pPr>
            <a:r>
              <a:rPr lang="en-US" dirty="0"/>
              <a:t>The Institution of Khilafat occupies of any important place in the Islamic politics. In Islam this institution began with the selection of  </a:t>
            </a:r>
            <a:r>
              <a:rPr lang="en-US" dirty="0" err="1"/>
              <a:t>Hazrat</a:t>
            </a:r>
            <a:r>
              <a:rPr lang="en-US" dirty="0"/>
              <a:t> Abubakar Sadiq as the successor of Holy prophet(S.A.W) in 632-634 AD. Then</a:t>
            </a:r>
          </a:p>
          <a:p>
            <a:pPr marL="0" indent="0" algn="just">
              <a:buNone/>
            </a:pPr>
            <a:r>
              <a:rPr lang="en-US" dirty="0" err="1"/>
              <a:t>Hazrat</a:t>
            </a:r>
            <a:r>
              <a:rPr lang="en-US" dirty="0"/>
              <a:t> </a:t>
            </a:r>
            <a:r>
              <a:rPr lang="en-US" dirty="0" err="1"/>
              <a:t>Umer</a:t>
            </a:r>
            <a:r>
              <a:rPr lang="en-US" dirty="0"/>
              <a:t> 634-644 </a:t>
            </a:r>
          </a:p>
          <a:p>
            <a:pPr marL="0" indent="0" algn="just">
              <a:buNone/>
            </a:pPr>
            <a:r>
              <a:rPr lang="en-US" dirty="0" err="1"/>
              <a:t>Hazrat</a:t>
            </a:r>
            <a:r>
              <a:rPr lang="en-US" dirty="0"/>
              <a:t> Usman 644-656</a:t>
            </a:r>
          </a:p>
          <a:p>
            <a:pPr marL="0" indent="0" algn="just">
              <a:buNone/>
            </a:pPr>
            <a:r>
              <a:rPr lang="en-US" dirty="0" err="1"/>
              <a:t>Hazrat</a:t>
            </a:r>
            <a:r>
              <a:rPr lang="en-US" dirty="0"/>
              <a:t> Ali  656-661 </a:t>
            </a:r>
            <a:r>
              <a:rPr lang="en-US" dirty="0" err="1"/>
              <a:t>succedded</a:t>
            </a:r>
            <a:r>
              <a:rPr lang="en-US" dirty="0"/>
              <a:t> the Prophet.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err="1"/>
              <a:t>Thay</a:t>
            </a:r>
            <a:r>
              <a:rPr lang="en-US" dirty="0"/>
              <a:t> were call </a:t>
            </a:r>
            <a:r>
              <a:rPr lang="en-US" dirty="0" err="1"/>
              <a:t>Khulafa</a:t>
            </a:r>
            <a:r>
              <a:rPr lang="en-US" dirty="0"/>
              <a:t>-e- </a:t>
            </a:r>
            <a:r>
              <a:rPr lang="en-US" dirty="0" err="1"/>
              <a:t>Rashidin</a:t>
            </a:r>
            <a:r>
              <a:rPr lang="en-US" dirty="0"/>
              <a:t> and this period is known as </a:t>
            </a:r>
            <a:r>
              <a:rPr lang="en-US" dirty="0" err="1"/>
              <a:t>khalafat</a:t>
            </a:r>
            <a:r>
              <a:rPr lang="en-US" dirty="0"/>
              <a:t>-e-</a:t>
            </a:r>
            <a:r>
              <a:rPr lang="en-US" dirty="0" err="1"/>
              <a:t>Rashdin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67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453D0-5D0E-49C6-9CBE-F21880D17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413248"/>
          </a:xfrm>
        </p:spPr>
        <p:txBody>
          <a:bodyPr/>
          <a:lstStyle/>
          <a:p>
            <a:pPr algn="just"/>
            <a:r>
              <a:rPr lang="en-US" dirty="0"/>
              <a:t>These Caliphs were the temporal and spiritual head of entire Muslim world.</a:t>
            </a:r>
          </a:p>
          <a:p>
            <a:pPr marL="0" indent="0" algn="just">
              <a:buNone/>
            </a:pPr>
            <a:r>
              <a:rPr lang="en-US" dirty="0"/>
              <a:t> </a:t>
            </a:r>
          </a:p>
          <a:p>
            <a:pPr algn="just"/>
            <a:r>
              <a:rPr lang="en-US" dirty="0"/>
              <a:t>They were obliged by their faith and eminent position to defend the propagate Allah’s  law as decreed by the Quran  and to keep the traditions of the Prophet (S.A.W).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They were also to take the advice of other Muslims while formulating the policies of the state.</a:t>
            </a:r>
          </a:p>
        </p:txBody>
      </p:sp>
    </p:spTree>
    <p:extLst>
      <p:ext uri="{BB962C8B-B14F-4D97-AF65-F5344CB8AC3E}">
        <p14:creationId xmlns:p14="http://schemas.microsoft.com/office/powerpoint/2010/main" val="644194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A8CD6-A3D8-4D44-9014-334FC9FAB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07680" cy="5337048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/>
              <a:t>Umayyads and </a:t>
            </a:r>
            <a:r>
              <a:rPr lang="en-US" b="1" dirty="0" err="1"/>
              <a:t>Abbasides</a:t>
            </a:r>
            <a:endParaRPr lang="en-US" b="1" dirty="0"/>
          </a:p>
          <a:p>
            <a:pPr marL="0" indent="0" algn="just">
              <a:buNone/>
            </a:pPr>
            <a:r>
              <a:rPr lang="en-US" dirty="0"/>
              <a:t>With the accession of Ameer </a:t>
            </a:r>
            <a:r>
              <a:rPr lang="en-US" dirty="0" err="1"/>
              <a:t>Muavia</a:t>
            </a:r>
            <a:r>
              <a:rPr lang="en-US" dirty="0"/>
              <a:t> this democratic nature of the Khalifa was changed with Monarchy. </a:t>
            </a:r>
          </a:p>
          <a:p>
            <a:pPr marL="0" indent="0" algn="just">
              <a:buNone/>
            </a:pPr>
            <a:r>
              <a:rPr lang="en-US" dirty="0"/>
              <a:t>The title of the </a:t>
            </a:r>
            <a:r>
              <a:rPr lang="en-US" b="1" dirty="0"/>
              <a:t>caliph</a:t>
            </a:r>
            <a:r>
              <a:rPr lang="en-US" dirty="0"/>
              <a:t> however continue to be used.</a:t>
            </a:r>
          </a:p>
          <a:p>
            <a:pPr algn="just"/>
            <a:r>
              <a:rPr lang="en-US" dirty="0"/>
              <a:t>The Umayyads were  succeeded by </a:t>
            </a:r>
            <a:r>
              <a:rPr lang="en-US" dirty="0" err="1"/>
              <a:t>Abbasids.They</a:t>
            </a:r>
            <a:r>
              <a:rPr lang="en-US" dirty="0"/>
              <a:t> were also called Caliph, </a:t>
            </a:r>
          </a:p>
          <a:p>
            <a:pPr algn="just"/>
            <a:r>
              <a:rPr lang="en-US" dirty="0"/>
              <a:t>The result was that position of the caliph as the symbolic head of the Islamic world remained unchanged.</a:t>
            </a:r>
          </a:p>
          <a:p>
            <a:pPr algn="just"/>
            <a:r>
              <a:rPr lang="en-US" dirty="0"/>
              <a:t>Even after the forces of decline had set in the Abbasids rule.</a:t>
            </a:r>
          </a:p>
        </p:txBody>
      </p:sp>
    </p:spTree>
    <p:extLst>
      <p:ext uri="{BB962C8B-B14F-4D97-AF65-F5344CB8AC3E}">
        <p14:creationId xmlns:p14="http://schemas.microsoft.com/office/powerpoint/2010/main" val="1315476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2E802-6203-4449-B0CE-DF50CEF3E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7955280" cy="541324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After the decline of </a:t>
            </a:r>
            <a:r>
              <a:rPr lang="en-US" dirty="0" err="1"/>
              <a:t>Abbasides</a:t>
            </a:r>
            <a:r>
              <a:rPr lang="en-US" dirty="0"/>
              <a:t> in 1258 the </a:t>
            </a:r>
            <a:r>
              <a:rPr lang="en-US" dirty="0" err="1"/>
              <a:t>Khalifat</a:t>
            </a:r>
            <a:r>
              <a:rPr lang="en-US" dirty="0"/>
              <a:t> passed into the hands of Fatimid rulers in Egypt and finally to the ottoman Sultans in the first half of the sixteenth century.</a:t>
            </a:r>
          </a:p>
          <a:p>
            <a:pPr algn="just"/>
            <a:r>
              <a:rPr lang="en-US" dirty="0"/>
              <a:t> The ottoman Empire was the only Muslim power in 19</a:t>
            </a:r>
            <a:r>
              <a:rPr lang="en-US" baseline="30000" dirty="0"/>
              <a:t>th</a:t>
            </a:r>
            <a:r>
              <a:rPr lang="en-US" dirty="0"/>
              <a:t> century which had maintained a semblance of authority.</a:t>
            </a:r>
          </a:p>
          <a:p>
            <a:pPr algn="just"/>
            <a:r>
              <a:rPr lang="en-US" dirty="0"/>
              <a:t>The Indian Muslims looked upon it as the symbol of Islam</a:t>
            </a:r>
          </a:p>
          <a:p>
            <a:pPr algn="just"/>
            <a:r>
              <a:rPr lang="en-US" dirty="0"/>
              <a:t>The British foreign policy toward Muslims especially Turkey continue to add the anxieties of the Indian Muslims.</a:t>
            </a:r>
          </a:p>
        </p:txBody>
      </p:sp>
    </p:spTree>
    <p:extLst>
      <p:ext uri="{BB962C8B-B14F-4D97-AF65-F5344CB8AC3E}">
        <p14:creationId xmlns:p14="http://schemas.microsoft.com/office/powerpoint/2010/main" val="2046833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https://ssznotes.com/wp-content/uploads/2019/01/download-13.jpg"/>
          <p:cNvPicPr>
            <a:picLocks noChangeAspect="1" noChangeArrowheads="1"/>
          </p:cNvPicPr>
          <p:nvPr/>
        </p:nvPicPr>
        <p:blipFill>
          <a:blip r:embed="rId2" cstate="print">
            <a:grayscl/>
            <a:lum/>
          </a:blip>
          <a:srcRect/>
          <a:stretch>
            <a:fillRect/>
          </a:stretch>
        </p:blipFill>
        <p:spPr bwMode="auto">
          <a:xfrm>
            <a:off x="1066800" y="990600"/>
            <a:ext cx="7086600" cy="4648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98378-CF36-48E2-8D3C-2A71DC232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7942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Khalifate Movement</a:t>
            </a:r>
            <a:r>
              <a:rPr lang="en-US" dirty="0"/>
              <a:t>.</a:t>
            </a:r>
          </a:p>
          <a:p>
            <a:r>
              <a:rPr lang="en-US" dirty="0"/>
              <a:t>The WW1 was broke out in 1914.</a:t>
            </a:r>
          </a:p>
          <a:p>
            <a:r>
              <a:rPr lang="en-US" dirty="0"/>
              <a:t>The Indian Muslims desired that Turkey should not join it. </a:t>
            </a:r>
          </a:p>
          <a:p>
            <a:r>
              <a:rPr lang="en-US" dirty="0"/>
              <a:t>On August 1914 </a:t>
            </a:r>
            <a:r>
              <a:rPr lang="en-US" dirty="0" err="1"/>
              <a:t>Molan</a:t>
            </a:r>
            <a:r>
              <a:rPr lang="en-US" dirty="0"/>
              <a:t> </a:t>
            </a:r>
            <a:r>
              <a:rPr lang="en-US" dirty="0" err="1"/>
              <a:t>Muhamma</a:t>
            </a:r>
            <a:r>
              <a:rPr lang="en-US" dirty="0"/>
              <a:t> Ali sent a </a:t>
            </a:r>
            <a:r>
              <a:rPr lang="en-US" dirty="0" err="1"/>
              <a:t>masseges</a:t>
            </a:r>
            <a:r>
              <a:rPr lang="en-US" dirty="0"/>
              <a:t> to Turkey stating that it would be disastrous for Turkey and the entire Muslim world in it plunged into war and asked the Grand Wazir to think a thousand time before entering into war.</a:t>
            </a:r>
          </a:p>
          <a:p>
            <a:pPr marL="0" indent="0">
              <a:buNone/>
            </a:pPr>
            <a:r>
              <a:rPr lang="en-US" dirty="0"/>
              <a:t>However in November 1914, Turkey decided to side with German against the British and his allies. </a:t>
            </a:r>
          </a:p>
        </p:txBody>
      </p:sp>
    </p:spTree>
    <p:extLst>
      <p:ext uri="{BB962C8B-B14F-4D97-AF65-F5344CB8AC3E}">
        <p14:creationId xmlns:p14="http://schemas.microsoft.com/office/powerpoint/2010/main" val="365215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0EC2A-946B-4F43-BB90-5CE19BB23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7955280" cy="4803648"/>
          </a:xfrm>
        </p:spPr>
        <p:txBody>
          <a:bodyPr/>
          <a:lstStyle/>
          <a:p>
            <a:pPr algn="just"/>
            <a:r>
              <a:rPr lang="en-US" b="1" dirty="0"/>
              <a:t>Turkey</a:t>
            </a:r>
            <a:r>
              <a:rPr lang="en-US" dirty="0"/>
              <a:t> became an ally of </a:t>
            </a:r>
            <a:r>
              <a:rPr lang="en-US" b="1" dirty="0"/>
              <a:t>Germany</a:t>
            </a:r>
            <a:r>
              <a:rPr lang="en-US" dirty="0"/>
              <a:t> against </a:t>
            </a:r>
            <a:r>
              <a:rPr lang="en-US" b="1" dirty="0"/>
              <a:t>Britain</a:t>
            </a:r>
            <a:r>
              <a:rPr lang="en-US" dirty="0"/>
              <a:t> and </a:t>
            </a:r>
          </a:p>
          <a:p>
            <a:pPr algn="just"/>
            <a:r>
              <a:rPr lang="en-US" dirty="0"/>
              <a:t>when Germany lost the war it was proposed that the Ottoman Caliphate be deprived of all its territories’ </a:t>
            </a:r>
          </a:p>
          <a:p>
            <a:pPr algn="just"/>
            <a:r>
              <a:rPr lang="en-US" dirty="0"/>
              <a:t>This caused an uproar among the Indian Muslims, and when the Treaty of Sevres was imposed, the protest became organized.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717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665FE3-D999-4FF6-9805-4A5734C45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70" y="530225"/>
            <a:ext cx="8285029" cy="5337175"/>
          </a:xfrm>
        </p:spPr>
      </p:pic>
    </p:spTree>
    <p:extLst>
      <p:ext uri="{BB962C8B-B14F-4D97-AF65-F5344CB8AC3E}">
        <p14:creationId xmlns:p14="http://schemas.microsoft.com/office/powerpoint/2010/main" val="4046823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F2BA3-852E-4108-8DF3-2D58ABD0C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337048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Gandhi joined the Muslim agitation over the Khilafat. </a:t>
            </a:r>
          </a:p>
          <a:p>
            <a:pPr algn="just"/>
            <a:r>
              <a:rPr lang="en-US" dirty="0"/>
              <a:t>The Quaid-</a:t>
            </a:r>
            <a:r>
              <a:rPr lang="en-US" dirty="0" err="1"/>
              <a:t>i</a:t>
            </a:r>
            <a:r>
              <a:rPr lang="en-US" dirty="0"/>
              <a:t>-Azam discouraged discussion of the issue in the AIML Council and was overruled. </a:t>
            </a:r>
          </a:p>
          <a:p>
            <a:pPr algn="just"/>
            <a:r>
              <a:rPr lang="en-US" dirty="0"/>
              <a:t>He wrote to Gandhi  and warning him not to encourage religious sentiments, but Gandhi ignored him. </a:t>
            </a:r>
          </a:p>
          <a:p>
            <a:pPr algn="just"/>
            <a:r>
              <a:rPr lang="en-US" dirty="0"/>
              <a:t>The Quaid-</a:t>
            </a:r>
            <a:r>
              <a:rPr lang="en-US" dirty="0" err="1"/>
              <a:t>i</a:t>
            </a:r>
            <a:r>
              <a:rPr lang="en-US" dirty="0"/>
              <a:t>-Azam wanted Hindus and Muslims to concentrate on Indian issues.</a:t>
            </a:r>
          </a:p>
        </p:txBody>
      </p:sp>
    </p:spTree>
    <p:extLst>
      <p:ext uri="{BB962C8B-B14F-4D97-AF65-F5344CB8AC3E}">
        <p14:creationId xmlns:p14="http://schemas.microsoft.com/office/powerpoint/2010/main" val="3915670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0E1C6-B430-484D-846F-F09198953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07680" cy="533704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The Events</a:t>
            </a:r>
          </a:p>
          <a:p>
            <a:r>
              <a:rPr lang="en-US" dirty="0"/>
              <a:t>In 1919, the Khilafat Committee was formed and then the All India Khilafat Conference.</a:t>
            </a:r>
          </a:p>
          <a:p>
            <a:r>
              <a:rPr lang="en-US" dirty="0"/>
              <a:t>Gandhi was elected leader of the committee. </a:t>
            </a:r>
          </a:p>
          <a:p>
            <a:r>
              <a:rPr lang="en-US" dirty="0"/>
              <a:t>Hasrat </a:t>
            </a:r>
            <a:r>
              <a:rPr lang="en-US" dirty="0" err="1"/>
              <a:t>Mohani</a:t>
            </a:r>
            <a:r>
              <a:rPr lang="en-US" dirty="0"/>
              <a:t> moved a resolution calling for a progressive boycott of European goods-this was passed, but Gandhi opposed it. </a:t>
            </a:r>
          </a:p>
          <a:p>
            <a:r>
              <a:rPr lang="en-US" dirty="0"/>
              <a:t>Later he supported it and started a Non-Cooperation Movement.</a:t>
            </a:r>
          </a:p>
          <a:p>
            <a:r>
              <a:rPr lang="en-US" dirty="0"/>
              <a:t>In 1920, a seven-point resolution was passed in the Congress Session at Nagpur which the Quaid-</a:t>
            </a:r>
            <a:r>
              <a:rPr lang="en-US" dirty="0" err="1"/>
              <a:t>i</a:t>
            </a:r>
            <a:r>
              <a:rPr lang="en-US" dirty="0"/>
              <a:t>-Azam opposed, and consequently resigned from the Congress.</a:t>
            </a:r>
          </a:p>
        </p:txBody>
      </p:sp>
    </p:spTree>
    <p:extLst>
      <p:ext uri="{BB962C8B-B14F-4D97-AF65-F5344CB8AC3E}">
        <p14:creationId xmlns:p14="http://schemas.microsoft.com/office/powerpoint/2010/main" val="2156601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9FBFE-B940-4D39-BDF2-1D9D67B14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07680" cy="533704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Khalafat</a:t>
            </a:r>
            <a:r>
              <a:rPr lang="en-US" b="1" dirty="0"/>
              <a:t> Deputation</a:t>
            </a:r>
          </a:p>
          <a:p>
            <a:pPr marL="0" indent="0" algn="just">
              <a:buNone/>
            </a:pPr>
            <a:r>
              <a:rPr lang="en-US" dirty="0"/>
              <a:t>On March 1920 a Muslims Deputation met the Prime Minister of </a:t>
            </a:r>
            <a:r>
              <a:rPr lang="en-US" dirty="0" err="1"/>
              <a:t>Bratain</a:t>
            </a:r>
            <a:r>
              <a:rPr lang="en-US" dirty="0"/>
              <a:t> </a:t>
            </a:r>
            <a:r>
              <a:rPr lang="en-US" dirty="0" err="1"/>
              <a:t>Lloyed</a:t>
            </a:r>
            <a:r>
              <a:rPr lang="en-US" dirty="0"/>
              <a:t> George; Muhammad Ali presented the Muslims demands , He put forward his three fold claim:</a:t>
            </a:r>
          </a:p>
          <a:p>
            <a:pPr marL="514350" indent="-514350" algn="just">
              <a:buAutoNum type="arabicPeriod"/>
            </a:pPr>
            <a:r>
              <a:rPr lang="en-US" dirty="0"/>
              <a:t>That the </a:t>
            </a:r>
            <a:r>
              <a:rPr lang="en-US" dirty="0" err="1"/>
              <a:t>Khalafat</a:t>
            </a:r>
            <a:r>
              <a:rPr lang="en-US" dirty="0"/>
              <a:t> shell not be dismembered.</a:t>
            </a:r>
          </a:p>
          <a:p>
            <a:pPr marL="514350" indent="-514350" algn="just">
              <a:buAutoNum type="arabicPeriod"/>
            </a:pPr>
            <a:r>
              <a:rPr lang="en-US" dirty="0"/>
              <a:t>That the Arab should remain  in Muslims Control</a:t>
            </a:r>
          </a:p>
          <a:p>
            <a:pPr marL="514350" indent="-514350" algn="just">
              <a:buAutoNum type="arabicPeriod"/>
            </a:pPr>
            <a:r>
              <a:rPr lang="en-US" dirty="0"/>
              <a:t>That the Khalifa shell remain as therefore the warden of the Holy Places. </a:t>
            </a:r>
          </a:p>
          <a:p>
            <a:pPr marL="514350" indent="-514350" algn="just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008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0E889-99C7-481D-B2E3-19F6D7104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07680" cy="518464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Treaty of Severs</a:t>
            </a:r>
          </a:p>
          <a:p>
            <a:r>
              <a:rPr lang="en-US" dirty="0"/>
              <a:t>In May 1920 “Treaty of Severs” has been published. This gave a severe shock for Indian Muslims.</a:t>
            </a:r>
          </a:p>
          <a:p>
            <a:r>
              <a:rPr lang="en-US" dirty="0"/>
              <a:t>According to this treaty The Arab countries become to be independent from Ottoman Empire.</a:t>
            </a:r>
          </a:p>
          <a:p>
            <a:r>
              <a:rPr lang="en-US" dirty="0"/>
              <a:t>Syria, Palestine and Mesopotamia were put under British and French mandates</a:t>
            </a:r>
          </a:p>
        </p:txBody>
      </p:sp>
    </p:spTree>
    <p:extLst>
      <p:ext uri="{BB962C8B-B14F-4D97-AF65-F5344CB8AC3E}">
        <p14:creationId xmlns:p14="http://schemas.microsoft.com/office/powerpoint/2010/main" val="823331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68271-596B-EC9C-7FCC-D84C431FC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FF264-64A3-CE1C-38C4-46A8C47A7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Partitioned of Ottoman Empire 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ECF8F-2BD4-FA05-52C3-7107D92E8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1143000"/>
            <a:ext cx="8138160" cy="510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85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51B08-AB5D-5619-4684-86A6EAD11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41324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Leaders of </a:t>
            </a:r>
            <a:r>
              <a:rPr lang="en-US" b="1" dirty="0" err="1"/>
              <a:t>Khalafat</a:t>
            </a:r>
            <a:r>
              <a:rPr lang="en-US" b="1" dirty="0"/>
              <a:t> Movements </a:t>
            </a:r>
          </a:p>
          <a:p>
            <a:pPr algn="l">
              <a:lnSpc>
                <a:spcPct val="150000"/>
              </a:lnSpc>
            </a:pPr>
            <a:r>
              <a:rPr lang="fi-FI" sz="2400" b="0" i="0" u="none" strike="noStrike" baseline="0" dirty="0">
                <a:latin typeface="Arial" panose="020B0604020202020204" pitchFamily="34" charset="0"/>
              </a:rPr>
              <a:t>1. Haji Jan Mohammad Chotani (1873-1932)</a:t>
            </a:r>
          </a:p>
          <a:p>
            <a:pPr algn="l">
              <a:lnSpc>
                <a:spcPct val="150000"/>
              </a:lnSpc>
            </a:pPr>
            <a:r>
              <a:rPr lang="en-US" sz="2400" b="0" i="0" u="none" strike="noStrike" baseline="0" dirty="0">
                <a:latin typeface="Arial" panose="020B0604020202020204" pitchFamily="34" charset="0"/>
              </a:rPr>
              <a:t>2. Maulana Abdul Bari (18'78-1926)</a:t>
            </a:r>
          </a:p>
          <a:p>
            <a:pPr algn="l">
              <a:lnSpc>
                <a:spcPct val="150000"/>
              </a:lnSpc>
            </a:pPr>
            <a:r>
              <a:rPr lang="en-US" sz="2400" b="0" i="0" u="none" strike="noStrike" baseline="0" dirty="0">
                <a:latin typeface="Arial" panose="020B0604020202020204" pitchFamily="34" charset="0"/>
              </a:rPr>
              <a:t>3. Maulana Shaukat Ali (1873-1938)</a:t>
            </a:r>
          </a:p>
          <a:p>
            <a:pPr algn="l">
              <a:lnSpc>
                <a:spcPct val="150000"/>
              </a:lnSpc>
            </a:pPr>
            <a:r>
              <a:rPr lang="fi-FI" sz="2400" b="0" i="0" u="none" strike="noStrike" baseline="0" dirty="0">
                <a:latin typeface="Arial" panose="020B0604020202020204" pitchFamily="34" charset="0"/>
              </a:rPr>
              <a:t>4. Maulana Mohammad Ali Jauhar (1878-1931)</a:t>
            </a:r>
          </a:p>
          <a:p>
            <a:pPr algn="l">
              <a:lnSpc>
                <a:spcPct val="150000"/>
              </a:lnSpc>
            </a:pPr>
            <a:r>
              <a:rPr lang="pt-BR" sz="2400" b="0" i="0" u="none" strike="noStrike" baseline="0" dirty="0">
                <a:latin typeface="Arial" panose="020B0604020202020204" pitchFamily="34" charset="0"/>
              </a:rPr>
              <a:t>5. Maulana Abul Kalam Azad (1888-1958)</a:t>
            </a:r>
          </a:p>
          <a:p>
            <a:pPr algn="l">
              <a:lnSpc>
                <a:spcPct val="150000"/>
              </a:lnSpc>
            </a:pPr>
            <a:r>
              <a:rPr lang="en-US" sz="2400" b="0" i="0" u="none" strike="noStrike" baseline="0" dirty="0">
                <a:latin typeface="Arial" panose="020B0604020202020204" pitchFamily="34" charset="0"/>
              </a:rPr>
              <a:t>6. Dr Saifuddin </a:t>
            </a:r>
            <a:r>
              <a:rPr lang="en-US" sz="2400" b="0" i="0" u="none" strike="noStrike" baseline="0" dirty="0" err="1">
                <a:latin typeface="Arial" panose="020B0604020202020204" pitchFamily="34" charset="0"/>
              </a:rPr>
              <a:t>Kitchlew</a:t>
            </a:r>
            <a:r>
              <a:rPr lang="en-US" sz="2400" b="0" i="0" u="none" strike="noStrike" baseline="0" dirty="0">
                <a:latin typeface="Arial" panose="020B0604020202020204" pitchFamily="34" charset="0"/>
              </a:rPr>
              <a:t> (1888-1963)</a:t>
            </a:r>
          </a:p>
          <a:p>
            <a:pPr algn="l">
              <a:lnSpc>
                <a:spcPct val="150000"/>
              </a:lnSpc>
            </a:pPr>
            <a:r>
              <a:rPr lang="en-US" sz="2400" b="0" i="0" u="none" strike="noStrike" baseline="0" dirty="0">
                <a:latin typeface="Arial" panose="020B0604020202020204" pitchFamily="34" charset="0"/>
              </a:rPr>
              <a:t>7. Maulana Hasrat </a:t>
            </a:r>
            <a:r>
              <a:rPr lang="en-US" sz="2400" b="0" i="0" u="none" strike="noStrike" baseline="0" dirty="0" err="1">
                <a:latin typeface="Arial" panose="020B0604020202020204" pitchFamily="34" charset="0"/>
              </a:rPr>
              <a:t>Mohani</a:t>
            </a:r>
            <a:r>
              <a:rPr lang="en-US" sz="2400" b="0" i="0" u="none" strike="noStrike" baseline="0" dirty="0">
                <a:latin typeface="Arial" panose="020B0604020202020204" pitchFamily="34" charset="0"/>
              </a:rPr>
              <a:t> (188i-1951)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53247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03DF6-5170-AD3A-4606-CB57A0CC6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260080" cy="533704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Non Cooperation Movement.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failure of </a:t>
            </a:r>
            <a:r>
              <a:rPr lang="en-US" dirty="0" err="1"/>
              <a:t>Khalafat</a:t>
            </a:r>
            <a:r>
              <a:rPr lang="en-US" dirty="0"/>
              <a:t> delegation convinced the Muslims that their constitutional policy was futile and only with agitation they could fulfilled their demands.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Muhammad Ali came to conclude that “the Freedom of India of  is absolutely necessary for the freedom of </a:t>
            </a:r>
            <a:r>
              <a:rPr lang="en-US" dirty="0" err="1"/>
              <a:t>islam</a:t>
            </a:r>
            <a:r>
              <a:rPr lang="en-US" dirty="0"/>
              <a:t> ”</a:t>
            </a:r>
          </a:p>
        </p:txBody>
      </p:sp>
    </p:spTree>
    <p:extLst>
      <p:ext uri="{BB962C8B-B14F-4D97-AF65-F5344CB8AC3E}">
        <p14:creationId xmlns:p14="http://schemas.microsoft.com/office/powerpoint/2010/main" val="291429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2D5A0-84EE-37BB-5D39-8820D2F37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07680" cy="541324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central </a:t>
            </a:r>
            <a:r>
              <a:rPr lang="en-US" dirty="0" err="1"/>
              <a:t>Khalafat</a:t>
            </a:r>
            <a:r>
              <a:rPr lang="en-US" dirty="0"/>
              <a:t> Committee organized a big public meeting at Bombay and adopt non cooperation as the only practice cause of action. The first instalment of Gandhi’s non cooperation movement was.</a:t>
            </a:r>
          </a:p>
          <a:p>
            <a:r>
              <a:rPr lang="en-US" dirty="0"/>
              <a:t>1. Surrender of all British titles</a:t>
            </a:r>
          </a:p>
          <a:p>
            <a:r>
              <a:rPr lang="en-US" dirty="0"/>
              <a:t>2. Refusal to attend the Govt. Functions</a:t>
            </a:r>
          </a:p>
          <a:p>
            <a:r>
              <a:rPr lang="en-US" dirty="0"/>
              <a:t>3.with draw all student from School and colleges</a:t>
            </a:r>
          </a:p>
          <a:p>
            <a:r>
              <a:rPr lang="en-US" dirty="0"/>
              <a:t>4.Boycott the British Courts</a:t>
            </a:r>
          </a:p>
          <a:p>
            <a:r>
              <a:rPr lang="en-US" dirty="0"/>
              <a:t>5.No Service in British army</a:t>
            </a:r>
          </a:p>
          <a:p>
            <a:r>
              <a:rPr lang="en-US" dirty="0"/>
              <a:t>6. No Participation in coming elections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685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92FA9-AE2F-E363-CC17-213D24848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489448"/>
          </a:xfrm>
        </p:spPr>
        <p:txBody>
          <a:bodyPr>
            <a:normAutofit fontScale="92500"/>
          </a:bodyPr>
          <a:lstStyle/>
          <a:p>
            <a:pPr algn="l"/>
            <a:r>
              <a:rPr lang="en-US" b="1" i="0" u="none" strike="noStrike" baseline="0" dirty="0">
                <a:latin typeface="Arial" panose="020B0604020202020204" pitchFamily="34" charset="0"/>
              </a:rPr>
              <a:t>Non-Cooperation</a:t>
            </a:r>
          </a:p>
          <a:p>
            <a:pPr algn="l"/>
            <a:r>
              <a:rPr lang="en-US" b="0" i="0" u="none" strike="noStrike" baseline="0" dirty="0">
                <a:latin typeface="Arial" panose="020B0604020202020204" pitchFamily="34" charset="0"/>
              </a:rPr>
              <a:t>The Quaid supported some form of non-cooperation but was against extreme and impractical measures.</a:t>
            </a:r>
          </a:p>
          <a:p>
            <a:pPr algn="l"/>
            <a:r>
              <a:rPr lang="en-US" b="0" i="0" u="none" strike="noStrike" baseline="0" dirty="0">
                <a:latin typeface="Arial" panose="020B0604020202020204" pitchFamily="34" charset="0"/>
              </a:rPr>
              <a:t>He agreed about surrendering titles given by the British, refusal to attend durbars or to serve in Iraq. </a:t>
            </a:r>
          </a:p>
          <a:p>
            <a:pPr algn="l"/>
            <a:r>
              <a:rPr lang="en-US" b="0" i="0" u="none" strike="noStrike" baseline="0" dirty="0">
                <a:latin typeface="Arial" panose="020B0604020202020204" pitchFamily="34" charset="0"/>
              </a:rPr>
              <a:t>He opposed the boycott of schools, colleges, and law courts, and of foreign goods. </a:t>
            </a:r>
          </a:p>
          <a:p>
            <a:pPr algn="l"/>
            <a:r>
              <a:rPr lang="en-US" b="0" i="0" u="none" strike="noStrike" baseline="0" dirty="0">
                <a:latin typeface="Arial" panose="020B0604020202020204" pitchFamily="34" charset="0"/>
              </a:rPr>
              <a:t>He felt Indian </a:t>
            </a:r>
            <a:r>
              <a:rPr lang="en-US" dirty="0">
                <a:latin typeface="Arial" panose="020B0604020202020204" pitchFamily="34" charset="0"/>
              </a:rPr>
              <a:t>w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ould be harmed by these boycotts as they had no replacements for these goods and services.</a:t>
            </a:r>
          </a:p>
          <a:p>
            <a:pPr algn="l"/>
            <a:r>
              <a:rPr lang="en-US" b="0" i="0" u="none" strike="noStrike" baseline="0" dirty="0">
                <a:latin typeface="Arial" panose="020B0604020202020204" pitchFamily="34" charset="0"/>
              </a:rPr>
              <a:t>The high point of the movement was the trial of the Ali Brothers in Karachi.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99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D3262-CDA5-50A9-BBC0-8A3974AB1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718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0" u="none" strike="noStrike" baseline="0" dirty="0">
                <a:latin typeface="Arial" panose="020B0604020202020204" pitchFamily="34" charset="0"/>
              </a:rPr>
              <a:t>The End of the Movement</a:t>
            </a:r>
          </a:p>
          <a:p>
            <a:pPr algn="just"/>
            <a:r>
              <a:rPr lang="en-US" sz="1800" b="0" i="0" u="none" strike="noStrike" baseline="0" dirty="0">
                <a:latin typeface="Arial" panose="020B0604020202020204" pitchFamily="34" charset="0"/>
              </a:rPr>
              <a:t>This movement. because of its fervor, had a fair chance of success since the British had been wakened by the First World War, but the following external factors brought it to an end.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Arial" panose="020B0604020202020204" pitchFamily="34" charset="0"/>
              </a:rPr>
              <a:t>1.	The </a:t>
            </a:r>
            <a:r>
              <a:rPr lang="en-US" sz="1800" b="1" i="0" u="none" strike="noStrike" baseline="0" dirty="0" err="1">
                <a:latin typeface="Arial" panose="020B0604020202020204" pitchFamily="34" charset="0"/>
              </a:rPr>
              <a:t>Moplah's</a:t>
            </a:r>
            <a:r>
              <a:rPr lang="en-US" sz="1800" b="1" i="0" u="none" strike="noStrike" baseline="0" dirty="0">
                <a:latin typeface="Arial" panose="020B0604020202020204" pitchFamily="34" charset="0"/>
              </a:rPr>
              <a:t> Uprising of August 1921:</a:t>
            </a:r>
          </a:p>
          <a:p>
            <a:pPr algn="l"/>
            <a:r>
              <a:rPr lang="en-US" sz="1800" b="0" i="0" u="none" strike="noStrike" baseline="0" dirty="0">
                <a:latin typeface="Arial" panose="020B0604020202020204" pitchFamily="34" charset="0"/>
              </a:rPr>
              <a:t>Taking national liberation to mean social liberation, the Muslim </a:t>
            </a:r>
            <a:r>
              <a:rPr lang="en-US" sz="1800" b="0" i="0" u="none" strike="noStrike" baseline="0" dirty="0" err="1">
                <a:latin typeface="Arial" panose="020B0604020202020204" pitchFamily="34" charset="0"/>
              </a:rPr>
              <a:t>Moplahs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 of Malabar set upon their Hindu landlords, killing and looting them. This damaged both Hindu-Muslim relations</a:t>
            </a:r>
          </a:p>
          <a:p>
            <a:pPr algn="l"/>
            <a:r>
              <a:rPr lang="en-US" sz="1800" dirty="0">
                <a:latin typeface="Arial" panose="020B0604020202020204" pitchFamily="34" charset="0"/>
              </a:rPr>
              <a:t>a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nd Gandhi's creed of non-violence. However. leaders from both sides controlled the extent</a:t>
            </a:r>
            <a:r>
              <a:rPr lang="en-US" sz="1800" dirty="0">
                <a:latin typeface="Arial" panose="020B0604020202020204" pitchFamily="34" charset="0"/>
              </a:rPr>
              <a:t> of the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 damage.</a:t>
            </a:r>
          </a:p>
          <a:p>
            <a:pPr marL="0" indent="0" algn="l">
              <a:buNone/>
            </a:pPr>
            <a:r>
              <a:rPr lang="en-US" sz="1800" b="1" i="0" u="none" strike="noStrike" baseline="0" dirty="0">
                <a:latin typeface="Arial" panose="020B0604020202020204" pitchFamily="34" charset="0"/>
              </a:rPr>
              <a:t>2.	The Chauri </a:t>
            </a:r>
            <a:r>
              <a:rPr lang="en-US" sz="1800" b="1" i="0" u="none" strike="noStrike" baseline="0" dirty="0" err="1">
                <a:latin typeface="Arial" panose="020B0604020202020204" pitchFamily="34" charset="0"/>
              </a:rPr>
              <a:t>Chaura</a:t>
            </a:r>
            <a:r>
              <a:rPr lang="en-US" sz="1800" b="1" i="0" u="none" strike="noStrike" baseline="0" dirty="0">
                <a:latin typeface="Arial" panose="020B0604020202020204" pitchFamily="34" charset="0"/>
              </a:rPr>
              <a:t> Incident of 5 February 1923:</a:t>
            </a:r>
          </a:p>
          <a:p>
            <a:pPr algn="l"/>
            <a:r>
              <a:rPr lang="en-US" sz="1800" dirty="0">
                <a:latin typeface="Arial" panose="020B0604020202020204" pitchFamily="34" charset="0"/>
              </a:rPr>
              <a:t>p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olice fired on unarmed protesters in the village of Chauri </a:t>
            </a:r>
            <a:r>
              <a:rPr lang="en-US" sz="1800" b="0" i="0" u="none" strike="noStrike" baseline="0" dirty="0" err="1">
                <a:latin typeface="Arial" panose="020B0604020202020204" pitchFamily="34" charset="0"/>
              </a:rPr>
              <a:t>Chaura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. In retaliation twenty two </a:t>
            </a:r>
            <a:r>
              <a:rPr lang="en-US" sz="1800" dirty="0">
                <a:latin typeface="Arial" panose="020B0604020202020204" pitchFamily="34" charset="0"/>
              </a:rPr>
              <a:t>p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olicemen were rounded up and burnt to death. Terming this act as an end to non-violence.</a:t>
            </a:r>
          </a:p>
          <a:p>
            <a:pPr algn="l"/>
            <a:r>
              <a:rPr lang="en-US" sz="1800" dirty="0">
                <a:latin typeface="Arial" panose="020B0604020202020204" pitchFamily="34" charset="0"/>
              </a:rPr>
              <a:t>Ga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ndhi called off his Non-Cooperation Movement leaving the Khilafat cause in the lurch.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362930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98728-AA0C-EA01-FE27-24DB89372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u="none" strike="noStrike" baseline="0" dirty="0">
                <a:latin typeface="Arial" panose="020B0604020202020204" pitchFamily="34" charset="0"/>
              </a:rPr>
              <a:t>3</a:t>
            </a:r>
            <a:r>
              <a:rPr lang="en-US" sz="1800" b="1" i="0" u="none" strike="noStrike" baseline="0" dirty="0">
                <a:latin typeface="Arial" panose="020B0604020202020204" pitchFamily="34" charset="0"/>
              </a:rPr>
              <a:t>.</a:t>
            </a:r>
            <a:r>
              <a:rPr lang="en-US" b="1" i="0" u="none" strike="noStrike" baseline="0" dirty="0">
                <a:latin typeface="Arial" panose="020B0604020202020204" pitchFamily="34" charset="0"/>
              </a:rPr>
              <a:t>The Abolition of the Caliphate-October 1924:</a:t>
            </a:r>
          </a:p>
          <a:p>
            <a:pPr algn="l"/>
            <a:r>
              <a:rPr lang="en-US" sz="2400" b="0" i="0" u="none" strike="noStrike" baseline="0" dirty="0">
                <a:latin typeface="Arial" panose="020B0604020202020204" pitchFamily="34" charset="0"/>
              </a:rPr>
              <a:t>The Grand National Assembly of Turkey itself abolished the office of Caliph or Khalifa. </a:t>
            </a:r>
          </a:p>
          <a:p>
            <a:pPr algn="l"/>
            <a:r>
              <a:rPr lang="en-US" sz="2400" b="0" i="0" u="none" strike="noStrike" baseline="0" dirty="0">
                <a:latin typeface="Arial" panose="020B0604020202020204" pitchFamily="34" charset="0"/>
              </a:rPr>
              <a:t>One leader of the Khilafat Movement, Maulana Abul Kalam Azad, agreed </a:t>
            </a:r>
            <a:r>
              <a:rPr lang="en-US" sz="2400" dirty="0">
                <a:latin typeface="Arial" panose="020B0604020202020204" pitchFamily="34" charset="0"/>
              </a:rPr>
              <a:t>wi</a:t>
            </a:r>
            <a:r>
              <a:rPr lang="en-US" sz="2400" b="0" i="0" u="none" strike="noStrike" baseline="0" dirty="0">
                <a:latin typeface="Arial" panose="020B0604020202020204" pitchFamily="34" charset="0"/>
              </a:rPr>
              <a:t>th the Turkish decision and advised Indian Muslims to leave Turkey to its own fate and to concentrate on matters closer to home. </a:t>
            </a:r>
          </a:p>
          <a:p>
            <a:pPr algn="l"/>
            <a:r>
              <a:rPr lang="en-US" sz="2400" b="0" i="0" u="none" strike="noStrike" baseline="0" dirty="0">
                <a:latin typeface="Arial" panose="020B0604020202020204" pitchFamily="34" charset="0"/>
              </a:rPr>
              <a:t>Thus, what Jinnah said at the beginning of the Khilafat Movement, Azad repeated at its end.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81175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8373C-BCDF-F585-A444-848AF1E3A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5413248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000" b="1" i="0" u="none" strike="noStrike" baseline="0" dirty="0">
                <a:latin typeface="Arial" panose="020B0604020202020204" pitchFamily="34" charset="0"/>
              </a:rPr>
              <a:t>Results of the Movement</a:t>
            </a:r>
          </a:p>
          <a:p>
            <a:pPr algn="just"/>
            <a:r>
              <a:rPr lang="en-US" sz="2600" b="0" i="0" u="none" strike="noStrike" baseline="0" dirty="0">
                <a:latin typeface="Arial" panose="020B0604020202020204" pitchFamily="34" charset="0"/>
              </a:rPr>
              <a:t>ln 1921, the greatest disaster was the </a:t>
            </a:r>
            <a:r>
              <a:rPr lang="en-US" sz="2600" b="0" i="0" u="none" strike="noStrike" baseline="0" dirty="0" err="1">
                <a:latin typeface="Arial" panose="020B0604020202020204" pitchFamily="34" charset="0"/>
              </a:rPr>
              <a:t>Hijrat</a:t>
            </a:r>
            <a:r>
              <a:rPr lang="en-US" sz="2600" b="0" i="0" u="none" strike="noStrike" baseline="0" dirty="0">
                <a:latin typeface="Arial" panose="020B0604020202020204" pitchFamily="34" charset="0"/>
              </a:rPr>
              <a:t> Movement, when Maulana Jauhar urged Muslims to migrate to Afghanistan. </a:t>
            </a:r>
            <a:endParaRPr lang="en-US" sz="2600" dirty="0">
              <a:latin typeface="Arial" panose="020B0604020202020204" pitchFamily="34" charset="0"/>
            </a:endParaRPr>
          </a:p>
          <a:p>
            <a:pPr algn="just"/>
            <a:r>
              <a:rPr lang="en-US" sz="2600" b="0" i="0" u="none" strike="noStrike" baseline="0" dirty="0">
                <a:latin typeface="Arial" panose="020B0604020202020204" pitchFamily="34" charset="0"/>
              </a:rPr>
              <a:t>Afghanistan closed its borders. Many Muslims who had sold their property cheaply </a:t>
            </a:r>
            <a:r>
              <a:rPr lang="en-US" sz="2600" dirty="0">
                <a:latin typeface="Arial" panose="020B0604020202020204" pitchFamily="34" charset="0"/>
              </a:rPr>
              <a:t>w</a:t>
            </a:r>
            <a:r>
              <a:rPr lang="en-US" sz="2600" b="0" i="0" u="none" strike="noStrike" baseline="0" dirty="0">
                <a:latin typeface="Arial" panose="020B0604020202020204" pitchFamily="34" charset="0"/>
              </a:rPr>
              <a:t>ere ruined, while many others died.</a:t>
            </a:r>
          </a:p>
          <a:p>
            <a:pPr marL="0" indent="0" algn="just">
              <a:buNone/>
            </a:pPr>
            <a:endParaRPr lang="en-US" sz="2600" b="0" i="0" u="none" strike="noStrike" baseline="0" dirty="0">
              <a:latin typeface="Arial" panose="020B0604020202020204" pitchFamily="34" charset="0"/>
            </a:endParaRPr>
          </a:p>
          <a:p>
            <a:pPr algn="just"/>
            <a:r>
              <a:rPr lang="en-US" sz="2600" b="0" i="0" u="none" strike="noStrike" baseline="0" dirty="0">
                <a:latin typeface="Arial" panose="020B0604020202020204" pitchFamily="34" charset="0"/>
              </a:rPr>
              <a:t>Dr Saifuddin </a:t>
            </a:r>
            <a:r>
              <a:rPr lang="en-US" sz="2600" b="0" i="0" u="none" strike="noStrike" baseline="0" dirty="0" err="1">
                <a:latin typeface="Arial" panose="020B0604020202020204" pitchFamily="34" charset="0"/>
              </a:rPr>
              <a:t>Kitchlew</a:t>
            </a:r>
            <a:r>
              <a:rPr lang="en-US" sz="2600" b="0" i="0" u="none" strike="noStrike" baseline="0" dirty="0">
                <a:latin typeface="Arial" panose="020B0604020202020204" pitchFamily="34" charset="0"/>
              </a:rPr>
              <a:t> and some other Khilafat leaders spoke out against the </a:t>
            </a:r>
            <a:r>
              <a:rPr lang="en-US" sz="2600" b="0" i="0" u="none" strike="noStrike" baseline="0" dirty="0" err="1">
                <a:latin typeface="Arial" panose="020B0604020202020204" pitchFamily="34" charset="0"/>
              </a:rPr>
              <a:t>Luckhnow</a:t>
            </a:r>
            <a:r>
              <a:rPr lang="en-US" sz="26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US" sz="2600" b="0" i="0" u="none" strike="noStrike" baseline="0" dirty="0" err="1">
                <a:latin typeface="Arial" panose="020B0604020202020204" pitchFamily="34" charset="0"/>
              </a:rPr>
              <a:t>Pact,calling</a:t>
            </a:r>
            <a:r>
              <a:rPr lang="en-US" sz="2600" b="0" i="0" u="none" strike="noStrike" baseline="0" dirty="0">
                <a:latin typeface="Arial" panose="020B0604020202020204" pitchFamily="34" charset="0"/>
              </a:rPr>
              <a:t> it unnecessary. Many Hindus joined their stance, and this made the separate electorate issue controversial.</a:t>
            </a:r>
          </a:p>
        </p:txBody>
      </p:sp>
    </p:spTree>
    <p:extLst>
      <p:ext uri="{BB962C8B-B14F-4D97-AF65-F5344CB8AC3E}">
        <p14:creationId xmlns:p14="http://schemas.microsoft.com/office/powerpoint/2010/main" val="1795494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DA13E-2794-2612-E1B4-4C0982387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530352"/>
            <a:ext cx="8260080" cy="5260848"/>
          </a:xfrm>
        </p:spPr>
        <p:txBody>
          <a:bodyPr>
            <a:normAutofit/>
          </a:bodyPr>
          <a:lstStyle/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The AIML </a:t>
            </a:r>
            <a:r>
              <a:rPr lang="en-US" sz="2800" dirty="0">
                <a:latin typeface="Arial" panose="020B0604020202020204" pitchFamily="34" charset="0"/>
              </a:rPr>
              <a:t>w</a:t>
            </a:r>
            <a:r>
              <a:rPr lang="en-US" sz="2800" b="0" i="0" u="none" strike="noStrike" baseline="0" dirty="0">
                <a:latin typeface="Arial" panose="020B0604020202020204" pitchFamily="34" charset="0"/>
              </a:rPr>
              <a:t>as </a:t>
            </a:r>
            <a:r>
              <a:rPr lang="en-US" sz="2800" dirty="0">
                <a:latin typeface="Arial" panose="020B0604020202020204" pitchFamily="34" charset="0"/>
              </a:rPr>
              <a:t>w</a:t>
            </a:r>
            <a:r>
              <a:rPr lang="en-US" sz="2800" b="0" i="0" u="none" strike="noStrike" baseline="0" dirty="0">
                <a:latin typeface="Arial" panose="020B0604020202020204" pitchFamily="34" charset="0"/>
              </a:rPr>
              <a:t>eakened.</a:t>
            </a:r>
          </a:p>
          <a:p>
            <a:pPr algn="l"/>
            <a:endParaRPr lang="en-US" sz="2800" b="0" i="0" u="none" strike="noStrike" baseline="0" dirty="0">
              <a:latin typeface="Arial" panose="020B0604020202020204" pitchFamily="34" charset="0"/>
            </a:endParaRPr>
          </a:p>
          <a:p>
            <a:pPr algn="l"/>
            <a:r>
              <a:rPr lang="en-US" sz="2800" b="0" i="0" u="none" strike="noStrike" baseline="0" dirty="0">
                <a:latin typeface="Arial" panose="020B0604020202020204" pitchFamily="34" charset="0"/>
              </a:rPr>
              <a:t>However, experience </a:t>
            </a:r>
            <a:r>
              <a:rPr lang="en-US" sz="2800" dirty="0">
                <a:latin typeface="Arial" panose="020B0604020202020204" pitchFamily="34" charset="0"/>
              </a:rPr>
              <a:t>w</a:t>
            </a:r>
            <a:r>
              <a:rPr lang="en-US" sz="2800" b="0" i="0" u="none" strike="noStrike" baseline="0" dirty="0">
                <a:latin typeface="Arial" panose="020B0604020202020204" pitchFamily="34" charset="0"/>
              </a:rPr>
              <a:t>as gained in mass agitation, organizing of processions, conducting of strikes and going to jail. This cadre of experienced </a:t>
            </a:r>
            <a:r>
              <a:rPr lang="en-US" sz="2800" dirty="0">
                <a:latin typeface="Arial" panose="020B0604020202020204" pitchFamily="34" charset="0"/>
              </a:rPr>
              <a:t>wo</a:t>
            </a:r>
            <a:r>
              <a:rPr lang="en-US" sz="2800" b="0" i="0" u="none" strike="noStrike" baseline="0" dirty="0">
                <a:latin typeface="Arial" panose="020B0604020202020204" pitchFamily="34" charset="0"/>
              </a:rPr>
              <a:t>rkers made the struggle for Pakistan possible.</a:t>
            </a:r>
          </a:p>
          <a:p>
            <a:pPr marL="0" indent="0" algn="l">
              <a:buNone/>
            </a:pPr>
            <a:endParaRPr lang="en-US" dirty="0">
              <a:latin typeface="Arial" panose="020B0604020202020204" pitchFamily="34" charset="0"/>
            </a:endParaRPr>
          </a:p>
          <a:p>
            <a:pPr algn="l"/>
            <a:endParaRPr lang="en-US" dirty="0">
              <a:latin typeface="Arial" panose="020B0604020202020204" pitchFamily="34" charset="0"/>
            </a:endParaRPr>
          </a:p>
          <a:p>
            <a:pPr marL="0" indent="0" algn="l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871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Images â Browse 214,790 Stock Photos, Vectors, and Video | Adobe  Stock">
            <a:extLst>
              <a:ext uri="{FF2B5EF4-FFF2-40B4-BE49-F238E27FC236}">
                <a16:creationId xmlns:a16="http://schemas.microsoft.com/office/drawing/2014/main" id="{76513361-7315-5F58-D0A3-C765DFA7DC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390" y="1928812"/>
            <a:ext cx="5389009" cy="228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4516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270</TotalTime>
  <Words>1401</Words>
  <Application>Microsoft Office PowerPoint</Application>
  <PresentationFormat>On-screen Show (4:3)</PresentationFormat>
  <Paragraphs>110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Aspect</vt:lpstr>
      <vt:lpstr>Khilafat Movement &amp; Non- Cooperation Movement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Khilafat Movement</dc:title>
  <dc:creator>nlm15</dc:creator>
  <cp:lastModifiedBy>ASIF NAVEED</cp:lastModifiedBy>
  <cp:revision>27</cp:revision>
  <dcterms:created xsi:type="dcterms:W3CDTF">2023-01-30T17:23:43Z</dcterms:created>
  <dcterms:modified xsi:type="dcterms:W3CDTF">2023-02-01T09:06:04Z</dcterms:modified>
</cp:coreProperties>
</file>