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0" d="100"/>
          <a:sy n="70" d="100"/>
        </p:scale>
        <p:origin x="53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2/8/2023</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2/8/2023</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2/8/2023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2/8/2023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2/8/2023</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CD08E-A03F-1B1B-54D0-89F028F51325}"/>
              </a:ext>
            </a:extLst>
          </p:cNvPr>
          <p:cNvSpPr>
            <a:spLocks noGrp="1"/>
          </p:cNvSpPr>
          <p:nvPr>
            <p:ph type="ctrTitle"/>
          </p:nvPr>
        </p:nvSpPr>
        <p:spPr>
          <a:xfrm>
            <a:off x="1915128" y="1152525"/>
            <a:ext cx="8714772" cy="4295775"/>
          </a:xfrm>
        </p:spPr>
        <p:txBody>
          <a:bodyPr/>
          <a:lstStyle/>
          <a:p>
            <a:r>
              <a:rPr lang="en-US" cap="none" dirty="0">
                <a:latin typeface="Times New Roman" panose="02020603050405020304" pitchFamily="18" charset="0"/>
                <a:ea typeface="Tahoma" panose="020B0604030504040204" pitchFamily="34" charset="0"/>
                <a:cs typeface="Times New Roman" panose="02020603050405020304" pitchFamily="18" charset="0"/>
              </a:rPr>
              <a:t>Down Fall of </a:t>
            </a:r>
            <a:br>
              <a:rPr lang="en-US" cap="none" dirty="0">
                <a:latin typeface="Times New Roman" panose="02020603050405020304" pitchFamily="18" charset="0"/>
                <a:ea typeface="Tahoma" panose="020B0604030504040204" pitchFamily="34" charset="0"/>
                <a:cs typeface="Times New Roman" panose="02020603050405020304" pitchFamily="18" charset="0"/>
              </a:rPr>
            </a:br>
            <a:r>
              <a:rPr lang="en-US" cap="none" dirty="0">
                <a:latin typeface="Times New Roman" panose="02020603050405020304" pitchFamily="18" charset="0"/>
                <a:ea typeface="Tahoma" panose="020B0604030504040204" pitchFamily="34" charset="0"/>
                <a:cs typeface="Times New Roman" panose="02020603050405020304" pitchFamily="18" charset="0"/>
              </a:rPr>
              <a:t>Mughal Empire</a:t>
            </a:r>
            <a:br>
              <a:rPr lang="en-US" cap="none" dirty="0">
                <a:latin typeface="Times New Roman" panose="02020603050405020304" pitchFamily="18" charset="0"/>
                <a:ea typeface="Tahoma" panose="020B0604030504040204" pitchFamily="34" charset="0"/>
                <a:cs typeface="Times New Roman" panose="02020603050405020304" pitchFamily="18" charset="0"/>
              </a:rPr>
            </a:br>
            <a:r>
              <a:rPr lang="en-US" cap="none" dirty="0">
                <a:latin typeface="Times New Roman" panose="02020603050405020304" pitchFamily="18" charset="0"/>
                <a:ea typeface="Tahoma" panose="020B0604030504040204" pitchFamily="34" charset="0"/>
                <a:cs typeface="Times New Roman" panose="02020603050405020304" pitchFamily="18" charset="0"/>
              </a:rPr>
              <a:t>1707-1857</a:t>
            </a:r>
            <a:br>
              <a:rPr lang="en-US" cap="none" dirty="0">
                <a:latin typeface="Times New Roman" panose="02020603050405020304" pitchFamily="18" charset="0"/>
                <a:ea typeface="Tahoma" panose="020B0604030504040204" pitchFamily="34" charset="0"/>
                <a:cs typeface="Times New Roman" panose="02020603050405020304" pitchFamily="18" charset="0"/>
              </a:rPr>
            </a:br>
            <a:endParaRPr lang="en-US" cap="none"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85439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DEC9B-8539-7E6C-0E13-2DA9926754F2}"/>
              </a:ext>
            </a:extLst>
          </p:cNvPr>
          <p:cNvSpPr>
            <a:spLocks noGrp="1"/>
          </p:cNvSpPr>
          <p:nvPr>
            <p:ph type="title"/>
          </p:nvPr>
        </p:nvSpPr>
        <p:spPr>
          <a:xfrm>
            <a:off x="1371600" y="685800"/>
            <a:ext cx="9115425" cy="628650"/>
          </a:xfrm>
        </p:spPr>
        <p:txBody>
          <a:bodyPr>
            <a:normAutofit/>
          </a:bodyPr>
          <a:lstStyle/>
          <a:p>
            <a:r>
              <a:rPr lang="en-US" sz="3200" b="1" dirty="0">
                <a:latin typeface="Times New Roman" panose="02020603050405020304" pitchFamily="18" charset="0"/>
                <a:cs typeface="Times New Roman" panose="02020603050405020304" pitchFamily="18" charset="0"/>
              </a:rPr>
              <a:t>The Great Mughals</a:t>
            </a:r>
          </a:p>
        </p:txBody>
      </p:sp>
      <p:sp>
        <p:nvSpPr>
          <p:cNvPr id="3" name="Content Placeholder 2">
            <a:extLst>
              <a:ext uri="{FF2B5EF4-FFF2-40B4-BE49-F238E27FC236}">
                <a16:creationId xmlns:a16="http://schemas.microsoft.com/office/drawing/2014/main" id="{0BA00EB6-E907-A65F-244B-E3734AF5E52F}"/>
              </a:ext>
            </a:extLst>
          </p:cNvPr>
          <p:cNvSpPr>
            <a:spLocks noGrp="1"/>
          </p:cNvSpPr>
          <p:nvPr>
            <p:ph idx="1"/>
          </p:nvPr>
        </p:nvSpPr>
        <p:spPr>
          <a:xfrm>
            <a:off x="1371599" y="1314450"/>
            <a:ext cx="10506075" cy="5314950"/>
          </a:xfrm>
        </p:spPr>
        <p:txBody>
          <a:bodyPr>
            <a:normAutofit/>
          </a:bodyPr>
          <a:lstStyle/>
          <a:p>
            <a:pPr marL="0" marR="0">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Mughal Empire was the dominant power in the Indian Subcontinent between the mid 16th century and the early 18th century. </a:t>
            </a:r>
          </a:p>
          <a:p>
            <a:pPr marL="0" marR="0">
              <a:lnSpc>
                <a:spcPct val="107000"/>
              </a:lnSpc>
              <a:spcBef>
                <a:spcPts val="0"/>
              </a:spcBef>
              <a:spcAft>
                <a:spcPts val="800"/>
              </a:spcAft>
            </a:pPr>
            <a:r>
              <a:rPr lang="en-US" sz="2400" b="1" dirty="0" err="1">
                <a:effectLst/>
                <a:latin typeface="Times New Roman" panose="02020603050405020304" pitchFamily="18" charset="0"/>
                <a:ea typeface="Calibri" panose="020F0502020204030204" pitchFamily="34" charset="0"/>
                <a:cs typeface="Times New Roman" panose="02020603050405020304" pitchFamily="18" charset="0"/>
              </a:rPr>
              <a:t>Zahiruddin</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Muhammad Babur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founded the Mughal Empire in India after defeating Ibrahim Lodhi in the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first battle of Panipat in 1526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and superseded the Delhi Sultans as the rulers of northern India. </a:t>
            </a:r>
          </a:p>
          <a:p>
            <a:pPr marL="0" marR="0">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Babur was succeeded by his eldest son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Humayun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who failed in asserting a strong monarchical authority. In the first ten years of his rule, he faced so many challenges not only from his younger brothers but also from the Afghan General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Sher Shah Suri.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Sher Shah Sufi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deafeated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Humayun in the battle of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Chausa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Kanauj</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in 1540. With the Iranian help, he recaptured Kabul and Qandahar and re-established Mughal rule in Delhi in</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1555</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723248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A265A6-0EE9-B6A2-8469-94FFE28AB604}"/>
              </a:ext>
            </a:extLst>
          </p:cNvPr>
          <p:cNvSpPr>
            <a:spLocks noGrp="1"/>
          </p:cNvSpPr>
          <p:nvPr>
            <p:ph type="title"/>
          </p:nvPr>
        </p:nvSpPr>
        <p:spPr>
          <a:xfrm>
            <a:off x="1371600" y="685800"/>
            <a:ext cx="9601200" cy="1009650"/>
          </a:xfrm>
        </p:spPr>
        <p:txBody>
          <a:bodyPr>
            <a:normAutofit/>
          </a:bodyPr>
          <a:lstStyle/>
          <a:p>
            <a:r>
              <a:rPr lang="en-US" sz="3200" b="1" dirty="0" err="1">
                <a:latin typeface="Times New Roman" panose="02020603050405020304" pitchFamily="18" charset="0"/>
                <a:cs typeface="Times New Roman" panose="02020603050405020304" pitchFamily="18" charset="0"/>
              </a:rPr>
              <a:t>Hamayun</a:t>
            </a:r>
            <a:r>
              <a:rPr lang="en-US" sz="3200" b="1" dirty="0">
                <a:latin typeface="Times New Roman" panose="02020603050405020304" pitchFamily="18" charset="0"/>
                <a:cs typeface="Times New Roman" panose="02020603050405020304" pitchFamily="18" charset="0"/>
              </a:rPr>
              <a:t> (1530-1540) , Akbar (1556-1605) &amp;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Jahangir (1605-1628)</a:t>
            </a:r>
          </a:p>
        </p:txBody>
      </p:sp>
      <p:sp>
        <p:nvSpPr>
          <p:cNvPr id="3" name="Content Placeholder 2">
            <a:extLst>
              <a:ext uri="{FF2B5EF4-FFF2-40B4-BE49-F238E27FC236}">
                <a16:creationId xmlns:a16="http://schemas.microsoft.com/office/drawing/2014/main" id="{A4ED80DB-A397-BA3F-2047-674DA21B5E9A}"/>
              </a:ext>
            </a:extLst>
          </p:cNvPr>
          <p:cNvSpPr>
            <a:spLocks noGrp="1"/>
          </p:cNvSpPr>
          <p:nvPr>
            <p:ph idx="1"/>
          </p:nvPr>
        </p:nvSpPr>
        <p:spPr>
          <a:xfrm>
            <a:off x="1371600" y="1695450"/>
            <a:ext cx="9601200" cy="4171950"/>
          </a:xfrm>
        </p:spPr>
        <p:txBody>
          <a:bodyPr>
            <a:noAutofit/>
          </a:bodyPr>
          <a:lstStyle/>
          <a:p>
            <a:pPr algn="just"/>
            <a:r>
              <a:rPr lang="en-US" sz="2400" dirty="0">
                <a:latin typeface="Times New Roman" panose="02020603050405020304" pitchFamily="18" charset="0"/>
                <a:cs typeface="Times New Roman" panose="02020603050405020304" pitchFamily="18" charset="0"/>
              </a:rPr>
              <a:t>Humayun's heir, </a:t>
            </a:r>
            <a:r>
              <a:rPr lang="en-US" sz="2400" b="1" dirty="0">
                <a:latin typeface="Times New Roman" panose="02020603050405020304" pitchFamily="18" charset="0"/>
                <a:cs typeface="Times New Roman" panose="02020603050405020304" pitchFamily="18" charset="0"/>
              </a:rPr>
              <a:t>Akbar</a:t>
            </a:r>
            <a:r>
              <a:rPr lang="en-US" sz="2400" dirty="0">
                <a:latin typeface="Times New Roman" panose="02020603050405020304" pitchFamily="18" charset="0"/>
                <a:cs typeface="Times New Roman" panose="02020603050405020304" pitchFamily="18" charset="0"/>
              </a:rPr>
              <a:t> was born in exile and was only 13 years old when his father died. It was due to his faithful </a:t>
            </a:r>
            <a:r>
              <a:rPr lang="en-US" sz="2400" dirty="0" err="1">
                <a:latin typeface="Times New Roman" panose="02020603050405020304" pitchFamily="18" charset="0"/>
                <a:cs typeface="Times New Roman" panose="02020603050405020304" pitchFamily="18" charset="0"/>
              </a:rPr>
              <a:t>Atalique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Behram</a:t>
            </a:r>
            <a:r>
              <a:rPr lang="en-US" sz="2400" dirty="0">
                <a:latin typeface="Times New Roman" panose="02020603050405020304" pitchFamily="18" charset="0"/>
                <a:cs typeface="Times New Roman" panose="02020603050405020304" pitchFamily="18" charset="0"/>
              </a:rPr>
              <a:t> Khan, Akbar, survived to demonstrate his worth. </a:t>
            </a:r>
          </a:p>
          <a:p>
            <a:pPr algn="just"/>
            <a:r>
              <a:rPr lang="en-US" sz="2400" dirty="0">
                <a:latin typeface="Times New Roman" panose="02020603050405020304" pitchFamily="18" charset="0"/>
                <a:cs typeface="Times New Roman" panose="02020603050405020304" pitchFamily="18" charset="0"/>
              </a:rPr>
              <a:t>Akbar was not only a great conqueror, but a capable organizer and a great administrator as well. He re-consolidates the Mughal Empire and set up a host of institutions that proved to be the foundation of an administrative system that operated even in British time. </a:t>
            </a:r>
          </a:p>
          <a:p>
            <a:pPr algn="just"/>
            <a:r>
              <a:rPr lang="en-US" sz="2400" dirty="0">
                <a:latin typeface="Times New Roman" panose="02020603050405020304" pitchFamily="18" charset="0"/>
                <a:cs typeface="Times New Roman" panose="02020603050405020304" pitchFamily="18" charset="0"/>
              </a:rPr>
              <a:t>He died in 1605 and succeeded by his son,</a:t>
            </a:r>
            <a:r>
              <a:rPr lang="en-US" sz="2400" b="1" dirty="0">
                <a:latin typeface="Times New Roman" panose="02020603050405020304" pitchFamily="18" charset="0"/>
                <a:cs typeface="Times New Roman" panose="02020603050405020304" pitchFamily="18" charset="0"/>
              </a:rPr>
              <a:t> Salim </a:t>
            </a:r>
            <a:r>
              <a:rPr lang="en-US" sz="2400" dirty="0">
                <a:latin typeface="Times New Roman" panose="02020603050405020304" pitchFamily="18" charset="0"/>
                <a:cs typeface="Times New Roman" panose="02020603050405020304" pitchFamily="18" charset="0"/>
              </a:rPr>
              <a:t>who took the title of </a:t>
            </a:r>
            <a:r>
              <a:rPr lang="en-US" sz="2400" b="1" dirty="0">
                <a:latin typeface="Times New Roman" panose="02020603050405020304" pitchFamily="18" charset="0"/>
                <a:cs typeface="Times New Roman" panose="02020603050405020304" pitchFamily="18" charset="0"/>
              </a:rPr>
              <a:t>Jahangir, </a:t>
            </a:r>
            <a:r>
              <a:rPr lang="en-US" sz="2400" dirty="0">
                <a:latin typeface="Times New Roman" panose="02020603050405020304" pitchFamily="18" charset="0"/>
                <a:cs typeface="Times New Roman" panose="02020603050405020304" pitchFamily="18" charset="0"/>
              </a:rPr>
              <a:t>meaning "Conqueror of the World". He expanded the empire and consolidated the Mughal rule in Bengal. Around this time European traders had started coming to India. </a:t>
            </a:r>
          </a:p>
        </p:txBody>
      </p:sp>
    </p:spTree>
    <p:extLst>
      <p:ext uri="{BB962C8B-B14F-4D97-AF65-F5344CB8AC3E}">
        <p14:creationId xmlns:p14="http://schemas.microsoft.com/office/powerpoint/2010/main" val="217530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03970-2F62-9A62-F3CC-9625F0B15E3D}"/>
              </a:ext>
            </a:extLst>
          </p:cNvPr>
          <p:cNvSpPr>
            <a:spLocks noGrp="1"/>
          </p:cNvSpPr>
          <p:nvPr>
            <p:ph type="title"/>
          </p:nvPr>
        </p:nvSpPr>
        <p:spPr>
          <a:xfrm>
            <a:off x="1371599" y="685800"/>
            <a:ext cx="9686925" cy="800100"/>
          </a:xfrm>
        </p:spPr>
        <p:txBody>
          <a:bodyPr>
            <a:normAutofit/>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Shah Jahan (1628-1688) &amp; Aurangzeb (1658-1707)</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547E3D-51E2-FF0A-47E8-81E4D169D8AF}"/>
              </a:ext>
            </a:extLst>
          </p:cNvPr>
          <p:cNvSpPr>
            <a:spLocks noGrp="1"/>
          </p:cNvSpPr>
          <p:nvPr>
            <p:ph idx="1"/>
          </p:nvPr>
        </p:nvSpPr>
        <p:spPr>
          <a:xfrm>
            <a:off x="1371599" y="1562100"/>
            <a:ext cx="10391775" cy="5181600"/>
          </a:xfrm>
        </p:spPr>
        <p:txBody>
          <a:bodyPr>
            <a:noAutofit/>
          </a:bodyPr>
          <a:lstStyle/>
          <a:p>
            <a:pPr algn="just"/>
            <a:r>
              <a:rPr lang="en-US" sz="2400" dirty="0">
                <a:effectLst/>
                <a:latin typeface="Tahoma" panose="020B0604030504040204" pitchFamily="34" charset="0"/>
                <a:ea typeface="Calibri" panose="020F0502020204030204" pitchFamily="34" charset="0"/>
              </a:rPr>
              <a:t>Jahangir was succeeded by his second son </a:t>
            </a:r>
            <a:r>
              <a:rPr lang="en-US" sz="2400" b="1" dirty="0">
                <a:effectLst/>
                <a:latin typeface="Tahoma" panose="020B0604030504040204" pitchFamily="34" charset="0"/>
                <a:ea typeface="Calibri" panose="020F0502020204030204" pitchFamily="34" charset="0"/>
              </a:rPr>
              <a:t>Khurram</a:t>
            </a:r>
            <a:r>
              <a:rPr lang="en-US" sz="2400" dirty="0">
                <a:effectLst/>
                <a:latin typeface="Tahoma" panose="020B0604030504040204" pitchFamily="34" charset="0"/>
                <a:ea typeface="Calibri" panose="020F0502020204030204" pitchFamily="34" charset="0"/>
              </a:rPr>
              <a:t> in 1628. He took the title of </a:t>
            </a:r>
            <a:r>
              <a:rPr lang="en-US" sz="2400" b="1" dirty="0">
                <a:effectLst/>
                <a:latin typeface="Tahoma" panose="020B0604030504040204" pitchFamily="34" charset="0"/>
                <a:ea typeface="Calibri" panose="020F0502020204030204" pitchFamily="34" charset="0"/>
              </a:rPr>
              <a:t>Shah Jahan </a:t>
            </a:r>
            <a:r>
              <a:rPr lang="en-US" sz="2400" dirty="0">
                <a:effectLst/>
                <a:latin typeface="Tahoma" panose="020B0604030504040204" pitchFamily="34" charset="0"/>
                <a:ea typeface="Calibri" panose="020F0502020204030204" pitchFamily="34" charset="0"/>
              </a:rPr>
              <a:t>meaning "the Emperor of the World". The Mughal Empire was at its zenith during Shah Jahan's rule. This was due to almost 100 years of unparalleled prosperity and peace. As a result during this reign, the world witnessed the unique development of art and culture of Mughal Empire.</a:t>
            </a:r>
            <a:endParaRPr lang="en-US" sz="2400" dirty="0"/>
          </a:p>
          <a:p>
            <a:pPr algn="just"/>
            <a:r>
              <a:rPr lang="en-US" sz="2400" b="1" dirty="0">
                <a:effectLst/>
                <a:latin typeface="Tahoma" panose="020B0604030504040204" pitchFamily="34" charset="0"/>
                <a:ea typeface="Calibri" panose="020F0502020204030204" pitchFamily="34" charset="0"/>
              </a:rPr>
              <a:t>Aurangzeb</a:t>
            </a:r>
            <a:r>
              <a:rPr lang="en-US" sz="2400" dirty="0">
                <a:effectLst/>
                <a:latin typeface="Tahoma" panose="020B0604030504040204" pitchFamily="34" charset="0"/>
                <a:ea typeface="Calibri" panose="020F0502020204030204" pitchFamily="34" charset="0"/>
              </a:rPr>
              <a:t> ascended the throne on 1658 and ruled supreme till 1707. He ruled for 50 years, matching Akbar's reign in longevity. But unfortunately he kept his three sons away from the royal court with the result that none of them was trained in the art of government. This proved to be very damaging for the Mughals later on.' .These Mughal rulers were called as Great Mughals because a new age begins with the unification of India under them</a:t>
            </a:r>
            <a:endParaRPr lang="en-US" sz="2400" dirty="0"/>
          </a:p>
        </p:txBody>
      </p:sp>
    </p:spTree>
    <p:extLst>
      <p:ext uri="{BB962C8B-B14F-4D97-AF65-F5344CB8AC3E}">
        <p14:creationId xmlns:p14="http://schemas.microsoft.com/office/powerpoint/2010/main" val="33682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33742-FBA7-C9D7-90AB-72A18F74B1B4}"/>
              </a:ext>
            </a:extLst>
          </p:cNvPr>
          <p:cNvSpPr>
            <a:spLocks noGrp="1"/>
          </p:cNvSpPr>
          <p:nvPr>
            <p:ph type="title"/>
          </p:nvPr>
        </p:nvSpPr>
        <p:spPr>
          <a:xfrm>
            <a:off x="1371600" y="685800"/>
            <a:ext cx="9601200" cy="723900"/>
          </a:xfrm>
        </p:spPr>
        <p:txBody>
          <a:bodyPr>
            <a:normAutofit/>
          </a:bodyPr>
          <a:lstStyle/>
          <a:p>
            <a:r>
              <a:rPr lang="en-US" sz="3200" b="1" cap="none" dirty="0">
                <a:latin typeface="Times New Roman" panose="02020603050405020304" pitchFamily="18" charset="0"/>
                <a:ea typeface="Tahoma" panose="020B0604030504040204" pitchFamily="34" charset="0"/>
                <a:cs typeface="Times New Roman" panose="02020603050405020304" pitchFamily="18" charset="0"/>
              </a:rPr>
              <a:t>Down Fall of </a:t>
            </a:r>
            <a:r>
              <a:rPr lang="en-US" sz="3200" b="1" dirty="0">
                <a:latin typeface="Times New Roman" panose="02020603050405020304" pitchFamily="18" charset="0"/>
                <a:ea typeface="Tahoma" panose="020B0604030504040204" pitchFamily="34" charset="0"/>
                <a:cs typeface="Times New Roman" panose="02020603050405020304" pitchFamily="18" charset="0"/>
              </a:rPr>
              <a:t> </a:t>
            </a:r>
            <a:r>
              <a:rPr lang="en-US" sz="3200" b="1" cap="none" dirty="0">
                <a:latin typeface="Times New Roman" panose="02020603050405020304" pitchFamily="18" charset="0"/>
                <a:ea typeface="Tahoma" panose="020B0604030504040204" pitchFamily="34" charset="0"/>
                <a:cs typeface="Times New Roman" panose="02020603050405020304" pitchFamily="18" charset="0"/>
              </a:rPr>
              <a:t>Mughal Empire</a:t>
            </a:r>
            <a:endParaRPr lang="en-US" sz="3200" b="1" dirty="0"/>
          </a:p>
        </p:txBody>
      </p:sp>
      <p:sp>
        <p:nvSpPr>
          <p:cNvPr id="3" name="Content Placeholder 2">
            <a:extLst>
              <a:ext uri="{FF2B5EF4-FFF2-40B4-BE49-F238E27FC236}">
                <a16:creationId xmlns:a16="http://schemas.microsoft.com/office/drawing/2014/main" id="{6152ECC6-DABF-734B-6DA3-CE96ECA1EA55}"/>
              </a:ext>
            </a:extLst>
          </p:cNvPr>
          <p:cNvSpPr>
            <a:spLocks noGrp="1"/>
          </p:cNvSpPr>
          <p:nvPr>
            <p:ph idx="1"/>
          </p:nvPr>
        </p:nvSpPr>
        <p:spPr>
          <a:xfrm>
            <a:off x="1371599" y="1276350"/>
            <a:ext cx="10410825" cy="5181600"/>
          </a:xfrm>
        </p:spPr>
        <p:txBody>
          <a:bodyPr>
            <a:normAutofit/>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death of Aurangzeb on 3rd March, 1707 marked the beginning of the end of the Great Mughal Empire's rule of century and a half (1526-1707). The Mughal Empire entered its decline immediately after Aurangzeb's death.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The successors of </a:t>
            </a:r>
            <a:r>
              <a:rPr lang="en-US" sz="2400" b="1" dirty="0" err="1">
                <a:effectLst/>
                <a:latin typeface="Times New Roman" panose="02020603050405020304" pitchFamily="18" charset="0"/>
                <a:ea typeface="Calibri" panose="020F0502020204030204" pitchFamily="34" charset="0"/>
                <a:cs typeface="Times New Roman" panose="02020603050405020304" pitchFamily="18" charset="0"/>
              </a:rPr>
              <a:t>Auiangzeb</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called the Later Mughal emperors,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lost control over the empire and independent kingdoms sprang up in every part of India. Among them, the state created by Marathas under the leadership of the first three Peshwas (prime minister) of Chhatrapati (King)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Sahu</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became the most extensive and powerful in India.</a:t>
            </a:r>
          </a:p>
          <a:p>
            <a:pPr algn="just"/>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Nizam-</a:t>
            </a:r>
            <a:r>
              <a:rPr lang="en-US" sz="2400" b="1" dirty="0" err="1">
                <a:effectLst/>
                <a:latin typeface="Times New Roman" panose="02020603050405020304" pitchFamily="18" charset="0"/>
                <a:ea typeface="Calibri" panose="020F0502020204030204" pitchFamily="34" charset="0"/>
                <a:cs typeface="Times New Roman" panose="02020603050405020304" pitchFamily="18" charset="0"/>
              </a:rPr>
              <a:t>ul</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-Mulk Asaf Jah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succeeded in creating an independent state in Deccan while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Haider Ali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raised the state of Mysore into a strong kingdom in South India. Bengal, Bihar and Orissa constituted one strong which became free within a few years after the death of Aurangzeb.</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278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559CD-DFD6-EBA0-1F54-0D79D88F5AC5}"/>
              </a:ext>
            </a:extLst>
          </p:cNvPr>
          <p:cNvSpPr>
            <a:spLocks noGrp="1"/>
          </p:cNvSpPr>
          <p:nvPr>
            <p:ph type="title"/>
          </p:nvPr>
        </p:nvSpPr>
        <p:spPr>
          <a:xfrm>
            <a:off x="1543050" y="419100"/>
            <a:ext cx="9601200" cy="828675"/>
          </a:xfrm>
        </p:spPr>
        <p:txBody>
          <a:bodyPr>
            <a:normAutofit/>
          </a:bodyPr>
          <a:lstStyle/>
          <a:p>
            <a:r>
              <a:rPr lang="en-US" sz="3200" dirty="0">
                <a:latin typeface="Times New Roman" panose="02020603050405020304" pitchFamily="18" charset="0"/>
                <a:cs typeface="Times New Roman" panose="02020603050405020304" pitchFamily="18" charset="0"/>
              </a:rPr>
              <a:t>Later Mughal Emperors</a:t>
            </a:r>
          </a:p>
        </p:txBody>
      </p:sp>
      <p:sp>
        <p:nvSpPr>
          <p:cNvPr id="3" name="Content Placeholder 2">
            <a:extLst>
              <a:ext uri="{FF2B5EF4-FFF2-40B4-BE49-F238E27FC236}">
                <a16:creationId xmlns:a16="http://schemas.microsoft.com/office/drawing/2014/main" id="{FEBCE4D6-2240-CAF4-2054-44D350DEA1D5}"/>
              </a:ext>
            </a:extLst>
          </p:cNvPr>
          <p:cNvSpPr>
            <a:spLocks noGrp="1"/>
          </p:cNvSpPr>
          <p:nvPr>
            <p:ph idx="1"/>
          </p:nvPr>
        </p:nvSpPr>
        <p:spPr>
          <a:xfrm>
            <a:off x="1371599" y="1247775"/>
            <a:ext cx="10410825" cy="5610225"/>
          </a:xfrm>
        </p:spPr>
        <p:txBody>
          <a:bodyPr>
            <a:noAutofit/>
          </a:bodyPr>
          <a:lstStyle/>
          <a:p>
            <a:r>
              <a:rPr lang="en-US" sz="2400" dirty="0">
                <a:latin typeface="Times New Roman" panose="02020603050405020304" pitchFamily="18" charset="0"/>
                <a:cs typeface="Times New Roman" panose="02020603050405020304" pitchFamily="18" charset="0"/>
              </a:rPr>
              <a:t>Conditions of India after Aurangzeb: An Overview of Later Mughal Rulers </a:t>
            </a:r>
          </a:p>
          <a:p>
            <a:r>
              <a:rPr lang="en-US" sz="2400" dirty="0">
                <a:latin typeface="Times New Roman" panose="02020603050405020304" pitchFamily="18" charset="0"/>
                <a:cs typeface="Times New Roman" panose="02020603050405020304" pitchFamily="18" charset="0"/>
              </a:rPr>
              <a:t>1. Bahadur Shah-I: 1707-12 AD </a:t>
            </a:r>
          </a:p>
          <a:p>
            <a:r>
              <a:rPr lang="en-US" sz="2400" dirty="0">
                <a:latin typeface="Times New Roman" panose="02020603050405020304" pitchFamily="18" charset="0"/>
                <a:cs typeface="Times New Roman" panose="02020603050405020304" pitchFamily="18" charset="0"/>
              </a:rPr>
              <a:t>2. </a:t>
            </a:r>
            <a:r>
              <a:rPr lang="en-US" sz="2400" dirty="0" err="1">
                <a:latin typeface="Times New Roman" panose="02020603050405020304" pitchFamily="18" charset="0"/>
                <a:cs typeface="Times New Roman" panose="02020603050405020304" pitchFamily="18" charset="0"/>
              </a:rPr>
              <a:t>Jahandar</a:t>
            </a:r>
            <a:r>
              <a:rPr lang="en-US" sz="2400" dirty="0">
                <a:latin typeface="Times New Roman" panose="02020603050405020304" pitchFamily="18" charset="0"/>
                <a:cs typeface="Times New Roman" panose="02020603050405020304" pitchFamily="18" charset="0"/>
              </a:rPr>
              <a:t> Shah: 1712-13 AD </a:t>
            </a:r>
          </a:p>
          <a:p>
            <a:r>
              <a:rPr lang="en-US" sz="2400" dirty="0">
                <a:latin typeface="Times New Roman" panose="02020603050405020304" pitchFamily="18" charset="0"/>
                <a:cs typeface="Times New Roman" panose="02020603050405020304" pitchFamily="18" charset="0"/>
              </a:rPr>
              <a:t>3. Farrukh </a:t>
            </a:r>
            <a:r>
              <a:rPr lang="en-US" sz="2400" dirty="0" err="1">
                <a:latin typeface="Times New Roman" panose="02020603050405020304" pitchFamily="18" charset="0"/>
                <a:cs typeface="Times New Roman" panose="02020603050405020304" pitchFamily="18" charset="0"/>
              </a:rPr>
              <a:t>Siyyar</a:t>
            </a:r>
            <a:r>
              <a:rPr lang="en-US" sz="2400" dirty="0">
                <a:latin typeface="Times New Roman" panose="02020603050405020304" pitchFamily="18" charset="0"/>
                <a:cs typeface="Times New Roman" panose="02020603050405020304" pitchFamily="18" charset="0"/>
              </a:rPr>
              <a:t>: 1713-19 AD 7</a:t>
            </a:r>
          </a:p>
          <a:p>
            <a:r>
              <a:rPr lang="en-US" sz="2400" dirty="0">
                <a:latin typeface="Times New Roman" panose="02020603050405020304" pitchFamily="18" charset="0"/>
                <a:cs typeface="Times New Roman" panose="02020603050405020304" pitchFamily="18" charset="0"/>
              </a:rPr>
              <a:t>4. Rafi </a:t>
            </a:r>
            <a:r>
              <a:rPr lang="en-US" sz="2400" dirty="0" err="1">
                <a:latin typeface="Times New Roman" panose="02020603050405020304" pitchFamily="18" charset="0"/>
                <a:cs typeface="Times New Roman" panose="02020603050405020304" pitchFamily="18" charset="0"/>
              </a:rPr>
              <a:t>Ul</a:t>
            </a:r>
            <a:r>
              <a:rPr lang="en-US" sz="2400" dirty="0">
                <a:latin typeface="Times New Roman" panose="02020603050405020304" pitchFamily="18" charset="0"/>
                <a:cs typeface="Times New Roman" panose="02020603050405020304" pitchFamily="18" charset="0"/>
              </a:rPr>
              <a:t>-Dara </a:t>
            </a:r>
            <a:r>
              <a:rPr lang="en-US" sz="2400" dirty="0" err="1">
                <a:latin typeface="Times New Roman" panose="02020603050405020304" pitchFamily="18" charset="0"/>
                <a:cs typeface="Times New Roman" panose="02020603050405020304" pitchFamily="18" charset="0"/>
              </a:rPr>
              <a:t>Jat</a:t>
            </a:r>
            <a:r>
              <a:rPr lang="en-US" sz="2400" dirty="0">
                <a:latin typeface="Times New Roman" panose="02020603050405020304" pitchFamily="18" charset="0"/>
                <a:cs typeface="Times New Roman" panose="02020603050405020304" pitchFamily="18" charset="0"/>
              </a:rPr>
              <a:t> &amp; Rati </a:t>
            </a:r>
            <a:r>
              <a:rPr lang="en-US" sz="2400" dirty="0" err="1">
                <a:latin typeface="Times New Roman" panose="02020603050405020304" pitchFamily="18" charset="0"/>
                <a:cs typeface="Times New Roman" panose="02020603050405020304" pitchFamily="18" charset="0"/>
              </a:rPr>
              <a:t>Ul-Daula</a:t>
            </a:r>
            <a:r>
              <a:rPr lang="en-US" sz="2400" dirty="0">
                <a:latin typeface="Times New Roman" panose="02020603050405020304" pitchFamily="18" charset="0"/>
                <a:cs typeface="Times New Roman" panose="02020603050405020304" pitchFamily="18" charset="0"/>
              </a:rPr>
              <a:t>: 1719 AD</a:t>
            </a:r>
          </a:p>
          <a:p>
            <a:r>
              <a:rPr lang="en-US" sz="2400" dirty="0">
                <a:latin typeface="Times New Roman" panose="02020603050405020304" pitchFamily="18" charset="0"/>
                <a:cs typeface="Times New Roman" panose="02020603050405020304" pitchFamily="18" charset="0"/>
              </a:rPr>
              <a:t> 5. Mohammad Shah (</a:t>
            </a:r>
            <a:r>
              <a:rPr lang="en-US" sz="2400" dirty="0" err="1">
                <a:latin typeface="Times New Roman" panose="02020603050405020304" pitchFamily="18" charset="0"/>
                <a:cs typeface="Times New Roman" panose="02020603050405020304" pitchFamily="18" charset="0"/>
              </a:rPr>
              <a:t>Rangeela</a:t>
            </a:r>
            <a:r>
              <a:rPr lang="en-US" sz="2400" dirty="0">
                <a:latin typeface="Times New Roman" panose="02020603050405020304" pitchFamily="18" charset="0"/>
                <a:cs typeface="Times New Roman" panose="02020603050405020304" pitchFamily="18" charset="0"/>
              </a:rPr>
              <a:t>): 1719-48 AD</a:t>
            </a:r>
          </a:p>
          <a:p>
            <a:r>
              <a:rPr lang="en-US" sz="2400" dirty="0">
                <a:latin typeface="Times New Roman" panose="02020603050405020304" pitchFamily="18" charset="0"/>
                <a:cs typeface="Times New Roman" panose="02020603050405020304" pitchFamily="18" charset="0"/>
              </a:rPr>
              <a:t> 6. Ahmad Shah: 1748-54 AD </a:t>
            </a:r>
          </a:p>
          <a:p>
            <a:r>
              <a:rPr lang="en-US" sz="2400" dirty="0">
                <a:latin typeface="Times New Roman" panose="02020603050405020304" pitchFamily="18" charset="0"/>
                <a:cs typeface="Times New Roman" panose="02020603050405020304" pitchFamily="18" charset="0"/>
              </a:rPr>
              <a:t>7. Alamgir-II: 1754-59 AD </a:t>
            </a:r>
          </a:p>
          <a:p>
            <a:r>
              <a:rPr lang="en-US" sz="2400" dirty="0">
                <a:latin typeface="Times New Roman" panose="02020603050405020304" pitchFamily="18" charset="0"/>
                <a:cs typeface="Times New Roman" panose="02020603050405020304" pitchFamily="18" charset="0"/>
              </a:rPr>
              <a:t>8. Shah </a:t>
            </a:r>
            <a:r>
              <a:rPr lang="en-US" sz="2400" dirty="0" err="1">
                <a:latin typeface="Times New Roman" panose="02020603050405020304" pitchFamily="18" charset="0"/>
                <a:cs typeface="Times New Roman" panose="02020603050405020304" pitchFamily="18" charset="0"/>
              </a:rPr>
              <a:t>Alam</a:t>
            </a:r>
            <a:r>
              <a:rPr lang="en-US" sz="2400" dirty="0">
                <a:latin typeface="Times New Roman" panose="02020603050405020304" pitchFamily="18" charset="0"/>
                <a:cs typeface="Times New Roman" panose="02020603050405020304" pitchFamily="18" charset="0"/>
              </a:rPr>
              <a:t>-II: 1759-1806 AD</a:t>
            </a:r>
          </a:p>
          <a:p>
            <a:r>
              <a:rPr lang="en-US" sz="2400" dirty="0">
                <a:latin typeface="Times New Roman" panose="02020603050405020304" pitchFamily="18" charset="0"/>
                <a:cs typeface="Times New Roman" panose="02020603050405020304" pitchFamily="18" charset="0"/>
              </a:rPr>
              <a:t> 9. Akbar-II: 1806-37 AD </a:t>
            </a:r>
          </a:p>
          <a:p>
            <a:r>
              <a:rPr lang="en-US" sz="2400" dirty="0">
                <a:latin typeface="Times New Roman" panose="02020603050405020304" pitchFamily="18" charset="0"/>
                <a:cs typeface="Times New Roman" panose="02020603050405020304" pitchFamily="18" charset="0"/>
              </a:rPr>
              <a:t>10. Bahadur Shah-II: 1837-57 AD</a:t>
            </a:r>
          </a:p>
        </p:txBody>
      </p:sp>
    </p:spTree>
    <p:extLst>
      <p:ext uri="{BB962C8B-B14F-4D97-AF65-F5344CB8AC3E}">
        <p14:creationId xmlns:p14="http://schemas.microsoft.com/office/powerpoint/2010/main" val="4081797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97E6B-D5A8-3090-868C-8EEA3414EEC4}"/>
              </a:ext>
            </a:extLst>
          </p:cNvPr>
          <p:cNvSpPr>
            <a:spLocks noGrp="1"/>
          </p:cNvSpPr>
          <p:nvPr>
            <p:ph type="title"/>
          </p:nvPr>
        </p:nvSpPr>
        <p:spPr>
          <a:xfrm>
            <a:off x="1371600" y="685800"/>
            <a:ext cx="9601200" cy="657225"/>
          </a:xfrm>
        </p:spPr>
        <p:txBody>
          <a:bodyPr>
            <a:normAutofit/>
          </a:bodyPr>
          <a:lstStyle/>
          <a:p>
            <a:r>
              <a:rPr lang="en-US" sz="3200" b="1" dirty="0">
                <a:latin typeface="Times New Roman" panose="02020603050405020304" pitchFamily="18" charset="0"/>
                <a:cs typeface="Times New Roman" panose="02020603050405020304" pitchFamily="18" charset="0"/>
              </a:rPr>
              <a:t>Nadir Shah Invasion 1738</a:t>
            </a:r>
          </a:p>
        </p:txBody>
      </p:sp>
      <p:sp>
        <p:nvSpPr>
          <p:cNvPr id="3" name="Content Placeholder 2">
            <a:extLst>
              <a:ext uri="{FF2B5EF4-FFF2-40B4-BE49-F238E27FC236}">
                <a16:creationId xmlns:a16="http://schemas.microsoft.com/office/drawing/2014/main" id="{8C03628E-8034-8488-EE80-1875BCBFBEAA}"/>
              </a:ext>
            </a:extLst>
          </p:cNvPr>
          <p:cNvSpPr>
            <a:spLocks noGrp="1"/>
          </p:cNvSpPr>
          <p:nvPr>
            <p:ph idx="1"/>
          </p:nvPr>
        </p:nvSpPr>
        <p:spPr>
          <a:xfrm>
            <a:off x="1371599" y="1343025"/>
            <a:ext cx="10391775" cy="5067300"/>
          </a:xfrm>
        </p:spPr>
        <p:txBody>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Internal decay is always the prime cause of the adversity of a society, nation or empire. But foreign invasions could accelerate the process of decay. It happened in the case of the Mughal Empire. The weak Mughal Empire faced the attack of Nadir Shah and repeated invasion of the Ahmad Shah Abdali. These attacks drained the empire of its wealth, ruined the trade and industry of North India and gave an ultimate blow to the Mughal Empire and its military power. </a:t>
            </a: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Nadir Shah became ruler of Persia (Iran) in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1736 AD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after the overthrowing Safavid dynasty. The Persia was snatched away from Safavid Dynasty by Afghans in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1722.</a:t>
            </a: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He turned out Afghans from Persia in 1738 AD. He captured Qandahar to destroy Afghan power completely. After that he planned to attack India. Nadir Shah was "a master of diplomacy and statecraft as well as of the sword."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41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35344-73D3-3806-4027-5C52C38A3210}"/>
              </a:ext>
            </a:extLst>
          </p:cNvPr>
          <p:cNvSpPr>
            <a:spLocks noGrp="1"/>
          </p:cNvSpPr>
          <p:nvPr>
            <p:ph type="title"/>
          </p:nvPr>
        </p:nvSpPr>
        <p:spPr>
          <a:xfrm>
            <a:off x="1371600" y="685800"/>
            <a:ext cx="9601200" cy="685800"/>
          </a:xfrm>
        </p:spPr>
        <p:txBody>
          <a:bodyPr>
            <a:normAutofit fontScale="90000"/>
          </a:bodyPr>
          <a:lstStyle/>
          <a:p>
            <a:r>
              <a:rPr lang="en-US" dirty="0"/>
              <a:t>Causes of Nadir Shah Invasion</a:t>
            </a:r>
          </a:p>
        </p:txBody>
      </p:sp>
      <p:sp>
        <p:nvSpPr>
          <p:cNvPr id="3" name="Content Placeholder 2">
            <a:extLst>
              <a:ext uri="{FF2B5EF4-FFF2-40B4-BE49-F238E27FC236}">
                <a16:creationId xmlns:a16="http://schemas.microsoft.com/office/drawing/2014/main" id="{C6203295-208F-6050-CA17-B540E33EF8DA}"/>
              </a:ext>
            </a:extLst>
          </p:cNvPr>
          <p:cNvSpPr>
            <a:spLocks noGrp="1"/>
          </p:cNvSpPr>
          <p:nvPr>
            <p:ph idx="1"/>
          </p:nvPr>
        </p:nvSpPr>
        <p:spPr>
          <a:xfrm>
            <a:off x="1371599" y="1371599"/>
            <a:ext cx="10467976" cy="5381626"/>
          </a:xfrm>
        </p:spPr>
        <p:txBody>
          <a:bodyPr>
            <a:noAutofit/>
          </a:bodyPr>
          <a:lstStyle/>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Nadir Shah started his. Indian invasion in 1739.  The invasion was due to many causes. </a:t>
            </a:r>
          </a:p>
          <a:p>
            <a:pPr algn="just"/>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Bad Condition of the Empire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When Nadir Shah became ruler of Persia in 1736,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Muhammad Shah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was the Emperor of Mughal Empire in India. The Mughal line had degenerated in the course of time. The dissolution of the Empire had begun towards the end of the Aurangzeb (1658-1707) reign.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The war of successions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hastened the process of decline. This situation further accelerated with the emergence of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Turanian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Persia and Hindustani factions during the reign of Bahadur Shah (1707-1712). When, Muhammad Shah (1719-1748) was elevated to throne in 1719. Unfortunately during the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twenty-nine years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 his reign "he watched, rather than contested, the progress • of disintegration, while his court was the scene of intrigue between various factions"."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Province after Province became independent</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The process of decline of Mughal Empire was further deepened when Nadir Shah decided upon his invasion.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1772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16F08D-868B-5C7C-11CB-62667BBF3E0F}"/>
              </a:ext>
            </a:extLst>
          </p:cNvPr>
          <p:cNvSpPr>
            <a:spLocks noGrp="1"/>
          </p:cNvSpPr>
          <p:nvPr>
            <p:ph idx="1"/>
          </p:nvPr>
        </p:nvSpPr>
        <p:spPr>
          <a:xfrm>
            <a:off x="1295400" y="866775"/>
            <a:ext cx="9601200" cy="5200650"/>
          </a:xfrm>
        </p:spPr>
        <p:txBody>
          <a:bodyPr>
            <a:normAutofit/>
          </a:bodyPr>
          <a:lstStyle/>
          <a:p>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Shelter to Afghan Fugitives</a:t>
            </a: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Persian court requested the Mughal Emperor Muhammad Shah to close his frontiers to Afghan fugitives. He had given promise to Nadir Shah to do so. whole year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pasied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and there was still no reply from Delhi. This provided him sufficient ground to attack.</a:t>
            </a:r>
          </a:p>
          <a:p>
            <a:pPr marL="0" marR="0">
              <a:lnSpc>
                <a:spcPct val="107000"/>
              </a:lnSpc>
              <a:spcBef>
                <a:spcPts val="0"/>
              </a:spcBef>
              <a:spcAft>
                <a:spcPts val="8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Wealth of India </a:t>
            </a:r>
          </a:p>
          <a:p>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Nadir Shah excused his violation of the frontier of Mughal Empire on the argument that he only wants to punish the Afghan fugitives. Nadir Shah was aware of the wealth, as well as the increasing weaknesses of the Mughal Empire. He also knew that Mughal Empire became too weak to defend his wealth. This was good time to penetrate in to rich but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defenceless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neighbouring</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land</a:t>
            </a:r>
          </a:p>
          <a:p>
            <a:r>
              <a:rPr lang="en-US" sz="2400" b="1" dirty="0">
                <a:latin typeface="Times New Roman" panose="02020603050405020304" pitchFamily="18" charset="0"/>
                <a:cs typeface="Times New Roman" panose="02020603050405020304" pitchFamily="18" charset="0"/>
              </a:rPr>
              <a:t>Negligence of Defense</a:t>
            </a:r>
          </a:p>
          <a:p>
            <a:endParaRPr lang="en-US" dirty="0"/>
          </a:p>
        </p:txBody>
      </p:sp>
    </p:spTree>
    <p:extLst>
      <p:ext uri="{BB962C8B-B14F-4D97-AF65-F5344CB8AC3E}">
        <p14:creationId xmlns:p14="http://schemas.microsoft.com/office/powerpoint/2010/main" val="3809282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188FA-747B-0909-469A-93E20F3B256A}"/>
              </a:ext>
            </a:extLst>
          </p:cNvPr>
          <p:cNvSpPr>
            <a:spLocks noGrp="1"/>
          </p:cNvSpPr>
          <p:nvPr>
            <p:ph type="title"/>
          </p:nvPr>
        </p:nvSpPr>
        <p:spPr>
          <a:xfrm>
            <a:off x="1371600" y="685800"/>
            <a:ext cx="9601200" cy="710609"/>
          </a:xfrm>
        </p:spPr>
        <p:txBody>
          <a:bodyPr>
            <a:normAutofit/>
          </a:bodyPr>
          <a:lstStyle/>
          <a:p>
            <a:r>
              <a:rPr lang="en-US" sz="3200" b="1" dirty="0">
                <a:latin typeface="Times New Roman" panose="02020603050405020304" pitchFamily="18" charset="0"/>
                <a:cs typeface="Times New Roman" panose="02020603050405020304" pitchFamily="18" charset="0"/>
              </a:rPr>
              <a:t>Impact of Invasion</a:t>
            </a:r>
          </a:p>
        </p:txBody>
      </p:sp>
      <p:sp>
        <p:nvSpPr>
          <p:cNvPr id="3" name="Content Placeholder 2">
            <a:extLst>
              <a:ext uri="{FF2B5EF4-FFF2-40B4-BE49-F238E27FC236}">
                <a16:creationId xmlns:a16="http://schemas.microsoft.com/office/drawing/2014/main" id="{7D1BC543-9125-EC75-C809-BB05A4390F29}"/>
              </a:ext>
            </a:extLst>
          </p:cNvPr>
          <p:cNvSpPr>
            <a:spLocks noGrp="1"/>
          </p:cNvSpPr>
          <p:nvPr>
            <p:ph idx="1"/>
          </p:nvPr>
        </p:nvSpPr>
        <p:spPr>
          <a:xfrm>
            <a:off x="1371600" y="1396409"/>
            <a:ext cx="10003536" cy="4894663"/>
          </a:xfrm>
        </p:spPr>
        <p:txBody>
          <a:bodyPr>
            <a:normAutofit lnSpcReduction="10000"/>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As regards the impacts of Nadir Shah's invasion on India, it shocked the Mughal Empire to its. foundation. It hastened the process of its disintegration. This invasion exposed the internal and external weaknesses of the Empire. The invasion emptied the treasury of Empire. Nadir Shah not only sucked the economic resources of the empire but also destroyed its prestige and power. Hopeless condition prevailed everywhere. The financial bankruptcy further contributed to the fall of Mughal Empire. </a:t>
            </a:r>
          </a:p>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Though, the invasion made Indian to realize the need to maintain an organized centralized government to save from foreign attack. But along with it the weakness of Mughal Empire encouraged the attitude of regional independence. This resulted in the disintegration of empire. By 1740 AD the Mughal Empire existed only in name. Nadir Shah's invasion paved the way for the successive attack from north-west in command of Afghan ruler Ahmad Shah Abdali afterwards.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869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1C9BE-8438-3E93-DBA9-966B0E697308}"/>
              </a:ext>
            </a:extLst>
          </p:cNvPr>
          <p:cNvSpPr>
            <a:spLocks noGrp="1"/>
          </p:cNvSpPr>
          <p:nvPr>
            <p:ph type="title"/>
          </p:nvPr>
        </p:nvSpPr>
        <p:spPr>
          <a:xfrm>
            <a:off x="1371600" y="685800"/>
            <a:ext cx="9601200" cy="713232"/>
          </a:xfrm>
        </p:spPr>
        <p:txBody>
          <a:bodyPr>
            <a:normAutofit/>
          </a:bodyPr>
          <a:lstStyle/>
          <a:p>
            <a:r>
              <a:rPr lang="en-US" sz="3200" b="1" dirty="0">
                <a:latin typeface="Times New Roman" panose="02020603050405020304" pitchFamily="18" charset="0"/>
                <a:cs typeface="Times New Roman" panose="02020603050405020304" pitchFamily="18" charset="0"/>
              </a:rPr>
              <a:t>Ahmad Shah Abdali : Exogenous reason of Decline</a:t>
            </a:r>
          </a:p>
        </p:txBody>
      </p:sp>
      <p:sp>
        <p:nvSpPr>
          <p:cNvPr id="3" name="Content Placeholder 2">
            <a:extLst>
              <a:ext uri="{FF2B5EF4-FFF2-40B4-BE49-F238E27FC236}">
                <a16:creationId xmlns:a16="http://schemas.microsoft.com/office/drawing/2014/main" id="{12C48CA8-7CB3-1A6C-775E-89EA26F69971}"/>
              </a:ext>
            </a:extLst>
          </p:cNvPr>
          <p:cNvSpPr>
            <a:spLocks noGrp="1"/>
          </p:cNvSpPr>
          <p:nvPr>
            <p:ph idx="1"/>
          </p:nvPr>
        </p:nvSpPr>
        <p:spPr>
          <a:xfrm>
            <a:off x="1371600" y="1737360"/>
            <a:ext cx="10680192" cy="4946904"/>
          </a:xfrm>
        </p:spPr>
        <p:txBody>
          <a:bodyPr>
            <a:noAutofit/>
          </a:bodyPr>
          <a:lstStyle/>
          <a:p>
            <a:pPr algn="just"/>
            <a:r>
              <a:rPr lang="en-US" sz="2400" dirty="0"/>
              <a:t>After the </a:t>
            </a:r>
            <a:r>
              <a:rPr lang="en-US" sz="2400" b="1" dirty="0"/>
              <a:t>murder of Nadir Shah in 1747</a:t>
            </a:r>
            <a:r>
              <a:rPr lang="en-US" sz="2400" dirty="0"/>
              <a:t>, Ahmad Shah Abdali, an Afghan chief rose to power and established himself as </a:t>
            </a:r>
            <a:r>
              <a:rPr lang="en-US" sz="2400" b="1" dirty="0"/>
              <a:t>an independent ruler </a:t>
            </a:r>
            <a:r>
              <a:rPr lang="en-US" sz="2400" dirty="0"/>
              <a:t>of Afghanistan. Ahmad Shah Abdali Was one of the </a:t>
            </a:r>
            <a:r>
              <a:rPr lang="en-US" sz="2400" b="1" dirty="0"/>
              <a:t>great generals of Nadir </a:t>
            </a:r>
            <a:r>
              <a:rPr lang="en-US" sz="2400" dirty="0"/>
              <a:t>Shah. </a:t>
            </a:r>
          </a:p>
          <a:p>
            <a:pPr algn="just"/>
            <a:r>
              <a:rPr lang="en-US" sz="2400" dirty="0"/>
              <a:t>Abdali served Nadir Shah during his campaign to India in 1739. It is said that Nadir Shah paid him tribute in these words "I have not found in Iran, </a:t>
            </a:r>
            <a:r>
              <a:rPr lang="en-US" sz="2400" dirty="0" err="1"/>
              <a:t>Turan</a:t>
            </a:r>
            <a:r>
              <a:rPr lang="en-US" sz="2400" dirty="0"/>
              <a:t> or Hind any man equal to Ahmad Shah in capacity and character.' While accompanying Nadir to India, Ahmad Shah Abdali had seen with his own eyes the weakness of the Mughal Empire, the inability of the emperor, the negligence of the ministers and desire for self independence. Soon after becoming ruler Ahmad Shah Abdali set up his headquarters at Qandahar. He turned his attention towards </a:t>
            </a:r>
            <a:r>
              <a:rPr lang="en-US" sz="2400" b="1" dirty="0"/>
              <a:t>consolidation and expansion of his kingdom. He conquered </a:t>
            </a:r>
            <a:r>
              <a:rPr lang="en-US" sz="2400" b="1" dirty="0" err="1"/>
              <a:t>Ghazna</a:t>
            </a:r>
            <a:r>
              <a:rPr lang="en-US" sz="2400" b="1" dirty="0"/>
              <a:t>, Kabul and Peshawar</a:t>
            </a:r>
            <a:r>
              <a:rPr lang="en-US" sz="2400" dirty="0"/>
              <a:t>. After establishing his power at home Abdali started a series of attacks on Mughal Empire in India.</a:t>
            </a:r>
          </a:p>
        </p:txBody>
      </p:sp>
    </p:spTree>
    <p:extLst>
      <p:ext uri="{BB962C8B-B14F-4D97-AF65-F5344CB8AC3E}">
        <p14:creationId xmlns:p14="http://schemas.microsoft.com/office/powerpoint/2010/main" val="3002923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1DF1-E608-E7E5-88A3-585D8405D13B}"/>
              </a:ext>
            </a:extLst>
          </p:cNvPr>
          <p:cNvSpPr>
            <a:spLocks noGrp="1"/>
          </p:cNvSpPr>
          <p:nvPr>
            <p:ph type="title"/>
          </p:nvPr>
        </p:nvSpPr>
        <p:spPr>
          <a:xfrm>
            <a:off x="1336675" y="228600"/>
            <a:ext cx="9518650" cy="630936"/>
          </a:xfrm>
        </p:spPr>
        <p:txBody>
          <a:bodyPr>
            <a:normAutofit fontScale="90000"/>
          </a:bodyPr>
          <a:lstStyle/>
          <a:p>
            <a:r>
              <a:rPr lang="en-US" sz="3600" b="1" dirty="0">
                <a:latin typeface="Times New Roman" panose="02020603050405020304" pitchFamily="18" charset="0"/>
                <a:cs typeface="Times New Roman" panose="02020603050405020304" pitchFamily="18" charset="0"/>
              </a:rPr>
              <a:t>CAUSES OF ABDALI'S INVASION </a:t>
            </a:r>
            <a:br>
              <a:rPr lang="en-US" dirty="0"/>
            </a:br>
            <a:endParaRPr lang="en-US" dirty="0"/>
          </a:p>
        </p:txBody>
      </p:sp>
      <p:sp>
        <p:nvSpPr>
          <p:cNvPr id="3" name="Content Placeholder 2">
            <a:extLst>
              <a:ext uri="{FF2B5EF4-FFF2-40B4-BE49-F238E27FC236}">
                <a16:creationId xmlns:a16="http://schemas.microsoft.com/office/drawing/2014/main" id="{3CDAD785-D5C9-3A7F-25EA-C5644483C9BE}"/>
              </a:ext>
            </a:extLst>
          </p:cNvPr>
          <p:cNvSpPr>
            <a:spLocks noGrp="1"/>
          </p:cNvSpPr>
          <p:nvPr>
            <p:ph idx="1"/>
          </p:nvPr>
        </p:nvSpPr>
        <p:spPr>
          <a:xfrm>
            <a:off x="1371600" y="1124712"/>
            <a:ext cx="10561320" cy="5074920"/>
          </a:xfrm>
        </p:spPr>
        <p:txBody>
          <a:bodyPr>
            <a:normAutofit fontScale="25000" lnSpcReduction="20000"/>
          </a:bodyPr>
          <a:lstStyle/>
          <a:p>
            <a:pPr marL="0" indent="0" algn="just">
              <a:buNone/>
            </a:pPr>
            <a:endParaRPr lang="en-US" sz="9600" dirty="0">
              <a:latin typeface="Times New Roman" panose="02020603050405020304" pitchFamily="18" charset="0"/>
              <a:cs typeface="Times New Roman" panose="02020603050405020304" pitchFamily="18" charset="0"/>
            </a:endParaRPr>
          </a:p>
          <a:p>
            <a:pPr algn="just"/>
            <a:r>
              <a:rPr lang="en-US" sz="9600" dirty="0">
                <a:latin typeface="Times New Roman" panose="02020603050405020304" pitchFamily="18" charset="0"/>
                <a:cs typeface="Times New Roman" panose="02020603050405020304" pitchFamily="18" charset="0"/>
              </a:rPr>
              <a:t>There are several causes which lead Ahmad Shah Abdali to invade India such as: </a:t>
            </a:r>
          </a:p>
          <a:p>
            <a:pPr algn="just">
              <a:lnSpc>
                <a:spcPct val="120000"/>
              </a:lnSpc>
            </a:pPr>
            <a:r>
              <a:rPr lang="en-US" sz="9600" b="1" dirty="0">
                <a:latin typeface="Times New Roman" panose="02020603050405020304" pitchFamily="18" charset="0"/>
                <a:cs typeface="Times New Roman" panose="02020603050405020304" pitchFamily="18" charset="0"/>
              </a:rPr>
              <a:t>2 Political Supremacy </a:t>
            </a:r>
            <a:r>
              <a:rPr lang="en-US" sz="9600" dirty="0">
                <a:latin typeface="Times New Roman" panose="02020603050405020304" pitchFamily="18" charset="0"/>
                <a:cs typeface="Times New Roman" panose="02020603050405020304" pitchFamily="18" charset="0"/>
              </a:rPr>
              <a:t>The other cause of Abdali's invasion was to establish his political supremacy over the decaying Mughal Empire. As after capturing the Kabul and </a:t>
            </a:r>
            <a:r>
              <a:rPr lang="en-US" sz="9600" dirty="0" err="1">
                <a:latin typeface="Times New Roman" panose="02020603050405020304" pitchFamily="18" charset="0"/>
                <a:cs typeface="Times New Roman" panose="02020603050405020304" pitchFamily="18" charset="0"/>
              </a:rPr>
              <a:t>Ghazni</a:t>
            </a:r>
            <a:r>
              <a:rPr lang="en-US" sz="9600" dirty="0">
                <a:latin typeface="Times New Roman" panose="02020603050405020304" pitchFamily="18" charset="0"/>
                <a:cs typeface="Times New Roman" panose="02020603050405020304" pitchFamily="18" charset="0"/>
              </a:rPr>
              <a:t>, Abdali claimed for all the area of Mughal Empire which was earlier annexed to his Persian Empire by Nadir Shah in 1739 AD. These areas included "the province of Punjab including, Gujarat, Aurangabad, </a:t>
            </a:r>
            <a:r>
              <a:rPr lang="en-US" sz="9600" dirty="0" err="1">
                <a:latin typeface="Times New Roman" panose="02020603050405020304" pitchFamily="18" charset="0"/>
                <a:cs typeface="Times New Roman" panose="02020603050405020304" pitchFamily="18" charset="0"/>
              </a:rPr>
              <a:t>Pasrur</a:t>
            </a:r>
            <a:r>
              <a:rPr lang="en-US" sz="9600" dirty="0">
                <a:latin typeface="Times New Roman" panose="02020603050405020304" pitchFamily="18" charset="0"/>
                <a:cs typeface="Times New Roman" panose="02020603050405020304" pitchFamily="18" charset="0"/>
              </a:rPr>
              <a:t> and Sialkot".2He was aware of the rapidly disintegrating Mughal Empire and diverse individual political interests of officials of Mughal court. The state of chaos in Punjab and invitation of Shah Nawaz Khan, the Governor of the Punjab, served as incentives for his invasions. </a:t>
            </a:r>
          </a:p>
          <a:p>
            <a:r>
              <a:rPr lang="en-US" dirty="0"/>
              <a:t>67</a:t>
            </a:r>
          </a:p>
        </p:txBody>
      </p:sp>
    </p:spTree>
    <p:extLst>
      <p:ext uri="{BB962C8B-B14F-4D97-AF65-F5344CB8AC3E}">
        <p14:creationId xmlns:p14="http://schemas.microsoft.com/office/powerpoint/2010/main" val="2402893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9E3696-22EC-8BD3-0945-ED995F00201B}"/>
              </a:ext>
            </a:extLst>
          </p:cNvPr>
          <p:cNvSpPr>
            <a:spLocks noGrp="1"/>
          </p:cNvSpPr>
          <p:nvPr>
            <p:ph idx="1"/>
          </p:nvPr>
        </p:nvSpPr>
        <p:spPr>
          <a:xfrm>
            <a:off x="1371600" y="466344"/>
            <a:ext cx="9601200" cy="5401056"/>
          </a:xfrm>
        </p:spPr>
        <p:txBody>
          <a:bodyPr/>
          <a:lstStyle/>
          <a:p>
            <a:pPr marL="0" indent="0">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Request of Shah Waliullah: </a:t>
            </a:r>
            <a:r>
              <a:rPr lang="en-US" sz="2400" dirty="0">
                <a:latin typeface="Times New Roman" panose="02020603050405020304" pitchFamily="18" charset="0"/>
                <a:cs typeface="Times New Roman" panose="02020603050405020304" pitchFamily="18" charset="0"/>
              </a:rPr>
              <a:t>A Muslim. Theologian It was the apprehension of Shah Waliullah to protect the future of Muslim from the fake plan of the </a:t>
            </a:r>
            <a:r>
              <a:rPr lang="en-US" sz="2400" b="1" dirty="0">
                <a:latin typeface="Times New Roman" panose="02020603050405020304" pitchFamily="18" charset="0"/>
                <a:cs typeface="Times New Roman" panose="02020603050405020304" pitchFamily="18" charset="0"/>
              </a:rPr>
              <a:t>evil forces of Marathas, Sikhs and </a:t>
            </a:r>
            <a:r>
              <a:rPr lang="en-US" sz="2400" b="1" dirty="0" err="1">
                <a:latin typeface="Times New Roman" panose="02020603050405020304" pitchFamily="18" charset="0"/>
                <a:cs typeface="Times New Roman" panose="02020603050405020304" pitchFamily="18" charset="0"/>
              </a:rPr>
              <a:t>Jats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provoked him to address an appeal to Ahmad Shah Abdali for direct physical intervention. Thus, the other cause of Abdali's invasion was the call of Shah Waliullah, to save the </a:t>
            </a:r>
            <a:r>
              <a:rPr lang="en-US" sz="2400" b="1" dirty="0">
                <a:latin typeface="Times New Roman" panose="02020603050405020304" pitchFamily="18" charset="0"/>
                <a:cs typeface="Times New Roman" panose="02020603050405020304" pitchFamily="18" charset="0"/>
              </a:rPr>
              <a:t>Muslims from domination of infidels. </a:t>
            </a:r>
          </a:p>
          <a:p>
            <a:pPr algn="just"/>
            <a:r>
              <a:rPr lang="en-US" sz="2400" b="1" dirty="0">
                <a:latin typeface="Times New Roman" panose="02020603050405020304" pitchFamily="18" charset="0"/>
                <a:cs typeface="Times New Roman" panose="02020603050405020304" pitchFamily="18" charset="0"/>
              </a:rPr>
              <a:t>Material Gains </a:t>
            </a:r>
            <a:r>
              <a:rPr lang="en-US" sz="2400" dirty="0">
                <a:latin typeface="Times New Roman" panose="02020603050405020304" pitchFamily="18" charset="0"/>
                <a:cs typeface="Times New Roman" panose="02020603050405020304" pitchFamily="18" charset="0"/>
              </a:rPr>
              <a:t>Ahmad Shah Abdali invaded India for seven times from </a:t>
            </a:r>
            <a:r>
              <a:rPr lang="en-US" sz="2400" b="1" dirty="0">
                <a:latin typeface="Times New Roman" panose="02020603050405020304" pitchFamily="18" charset="0"/>
                <a:cs typeface="Times New Roman" panose="02020603050405020304" pitchFamily="18" charset="0"/>
              </a:rPr>
              <a:t>1748 AD to 1767 AD</a:t>
            </a:r>
            <a:r>
              <a:rPr lang="en-US" sz="2400" dirty="0">
                <a:latin typeface="Times New Roman" panose="02020603050405020304" pitchFamily="18" charset="0"/>
                <a:cs typeface="Times New Roman" panose="02020603050405020304" pitchFamily="18" charset="0"/>
              </a:rPr>
              <a:t>. The major objective and cause of his invasion was to lay his hands on the wealth of India. It was badly needed to consolidate his rule in Afghanistan and provide financial base for the government. </a:t>
            </a:r>
          </a:p>
          <a:p>
            <a:endParaRPr lang="en-US" dirty="0"/>
          </a:p>
        </p:txBody>
      </p:sp>
    </p:spTree>
    <p:extLst>
      <p:ext uri="{BB962C8B-B14F-4D97-AF65-F5344CB8AC3E}">
        <p14:creationId xmlns:p14="http://schemas.microsoft.com/office/powerpoint/2010/main" val="1091626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4256F-4137-33E2-DF3D-1A2FDAAB1D7D}"/>
              </a:ext>
            </a:extLst>
          </p:cNvPr>
          <p:cNvSpPr>
            <a:spLocks noGrp="1"/>
          </p:cNvSpPr>
          <p:nvPr>
            <p:ph type="title"/>
          </p:nvPr>
        </p:nvSpPr>
        <p:spPr>
          <a:xfrm>
            <a:off x="1371600" y="685800"/>
            <a:ext cx="9601200" cy="969264"/>
          </a:xfrm>
        </p:spPr>
        <p:txBody>
          <a:bodyPr>
            <a:normAutofit fontScale="90000"/>
          </a:bodyPr>
          <a:lstStyle/>
          <a:p>
            <a:br>
              <a:rPr lang="en-US" sz="3600" dirty="0">
                <a:latin typeface="Times New Roman" panose="02020603050405020304" pitchFamily="18" charset="0"/>
                <a:ea typeface="Calibri" panose="020F0502020204030204" pitchFamily="34" charset="0"/>
                <a:cs typeface="Times New Roman" panose="02020603050405020304" pitchFamily="18" charset="0"/>
              </a:rPr>
            </a:br>
            <a:r>
              <a:rPr lang="en-US" sz="3600" b="1" dirty="0">
                <a:latin typeface="Times New Roman" panose="02020603050405020304" pitchFamily="18" charset="0"/>
                <a:ea typeface="Calibri" panose="020F0502020204030204" pitchFamily="34" charset="0"/>
                <a:cs typeface="Times New Roman" panose="02020603050405020304" pitchFamily="18" charset="0"/>
              </a:rPr>
              <a:t>Impact of Ahmad Shah Abdali Invasion</a:t>
            </a:r>
            <a:endParaRPr lang="en-US" b="1" dirty="0"/>
          </a:p>
        </p:txBody>
      </p:sp>
      <p:sp>
        <p:nvSpPr>
          <p:cNvPr id="3" name="Content Placeholder 2">
            <a:extLst>
              <a:ext uri="{FF2B5EF4-FFF2-40B4-BE49-F238E27FC236}">
                <a16:creationId xmlns:a16="http://schemas.microsoft.com/office/drawing/2014/main" id="{1216EEE5-0C51-60ED-F573-9BE5F2DBD108}"/>
              </a:ext>
            </a:extLst>
          </p:cNvPr>
          <p:cNvSpPr>
            <a:spLocks noGrp="1"/>
          </p:cNvSpPr>
          <p:nvPr>
            <p:ph idx="1"/>
          </p:nvPr>
        </p:nvSpPr>
        <p:spPr>
          <a:xfrm>
            <a:off x="1435608" y="1892808"/>
            <a:ext cx="10232136" cy="4279392"/>
          </a:xfrm>
        </p:spPr>
        <p:txBody>
          <a:bodyPr/>
          <a:lstStyle/>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Ahmad Shah Abdali invasions brought catastrophe affect in several ways. Firstly, it accelerated the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dismemberment of the trembling </a:t>
            </a:r>
            <a:r>
              <a:rPr lang="en-US" sz="2400" b="1" dirty="0" err="1">
                <a:effectLst/>
                <a:latin typeface="Times New Roman" panose="02020603050405020304" pitchFamily="18" charset="0"/>
                <a:ea typeface="Calibri" panose="020F0502020204030204" pitchFamily="34" charset="0"/>
                <a:cs typeface="Times New Roman" panose="02020603050405020304" pitchFamily="18" charset="0"/>
              </a:rPr>
              <a:t>Mughul</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Empire.</a:t>
            </a:r>
          </a:p>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Secondly, it presented a serious test to the rapidly spreading Maratha imperialism. And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sealed the fate of the Marathas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for their dream of supremacy in the country. </a:t>
            </a:r>
          </a:p>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Thirdly, it indirectly helped the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rise of the Sikh power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stronger than ever. The Sikhs fully exploited the weaknesses of the Mughals and the state of anarchy and chaos in the northern part of the country.</a:t>
            </a:r>
          </a:p>
          <a:p>
            <a:endParaRPr lang="en-US" dirty="0"/>
          </a:p>
        </p:txBody>
      </p:sp>
    </p:spTree>
    <p:extLst>
      <p:ext uri="{BB962C8B-B14F-4D97-AF65-F5344CB8AC3E}">
        <p14:creationId xmlns:p14="http://schemas.microsoft.com/office/powerpoint/2010/main" val="288773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D791-4DE9-6B6A-44D2-8462050EDC31}"/>
              </a:ext>
            </a:extLst>
          </p:cNvPr>
          <p:cNvSpPr>
            <a:spLocks noGrp="1"/>
          </p:cNvSpPr>
          <p:nvPr>
            <p:ph type="title"/>
          </p:nvPr>
        </p:nvSpPr>
        <p:spPr>
          <a:xfrm>
            <a:off x="1371600" y="685800"/>
            <a:ext cx="9601200" cy="923544"/>
          </a:xfrm>
        </p:spPr>
        <p:txBody>
          <a:bodyPr>
            <a:normAutofit/>
          </a:bodyPr>
          <a:lstStyle/>
          <a:p>
            <a:r>
              <a:rPr lang="en-US" sz="3200" b="1" dirty="0">
                <a:latin typeface="Times New Roman" panose="02020603050405020304" pitchFamily="18" charset="0"/>
                <a:cs typeface="Times New Roman" panose="02020603050405020304" pitchFamily="18" charset="0"/>
              </a:rPr>
              <a:t>Downfall of Mughal Empire</a:t>
            </a:r>
          </a:p>
        </p:txBody>
      </p:sp>
      <p:sp>
        <p:nvSpPr>
          <p:cNvPr id="3" name="Content Placeholder 2">
            <a:extLst>
              <a:ext uri="{FF2B5EF4-FFF2-40B4-BE49-F238E27FC236}">
                <a16:creationId xmlns:a16="http://schemas.microsoft.com/office/drawing/2014/main" id="{4B22B738-5C81-5465-0006-52A6C0CD1092}"/>
              </a:ext>
            </a:extLst>
          </p:cNvPr>
          <p:cNvSpPr>
            <a:spLocks noGrp="1"/>
          </p:cNvSpPr>
          <p:nvPr>
            <p:ph idx="1"/>
          </p:nvPr>
        </p:nvSpPr>
        <p:spPr>
          <a:xfrm>
            <a:off x="1371600" y="1609344"/>
            <a:ext cx="10616184" cy="5148072"/>
          </a:xfrm>
        </p:spPr>
        <p:txBody>
          <a:bodyPr>
            <a:noAutofit/>
          </a:bodyPr>
          <a:lstStyle/>
          <a:p>
            <a:r>
              <a:rPr lang="en-US" sz="2400" dirty="0">
                <a:latin typeface="Times New Roman" panose="02020603050405020304" pitchFamily="18" charset="0"/>
                <a:cs typeface="Times New Roman" panose="02020603050405020304" pitchFamily="18" charset="0"/>
              </a:rPr>
              <a:t>The Mughal Empire reached its greatest extent in the time of </a:t>
            </a:r>
            <a:r>
              <a:rPr lang="en-US" sz="2400" dirty="0" err="1">
                <a:latin typeface="Times New Roman" panose="02020603050405020304" pitchFamily="18" charset="0"/>
                <a:cs typeface="Times New Roman" panose="02020603050405020304" pitchFamily="18" charset="0"/>
              </a:rPr>
              <a:t>Aurangzeh</a:t>
            </a:r>
            <a:r>
              <a:rPr lang="en-US" sz="2400" dirty="0">
                <a:latin typeface="Times New Roman" panose="02020603050405020304" pitchFamily="18" charset="0"/>
                <a:cs typeface="Times New Roman" panose="02020603050405020304" pitchFamily="18" charset="0"/>
              </a:rPr>
              <a:t> Alamgir. but a drastic decline in its power and prestige came about within a few decades of his death. </a:t>
            </a:r>
          </a:p>
          <a:p>
            <a:r>
              <a:rPr lang="en-US" sz="2400" dirty="0">
                <a:latin typeface="Times New Roman" panose="02020603050405020304" pitchFamily="18" charset="0"/>
                <a:cs typeface="Times New Roman" panose="02020603050405020304" pitchFamily="18" charset="0"/>
              </a:rPr>
              <a:t>The Mughal Empire did not collapse suddenly. It took 150 years after the death of Aurangzeb to finally come to an end. The causes of its decline and eventual downfall cannot he traced to any one single factor but a combination of factors which together chipped away at the once invincible might of the Mughals.' </a:t>
            </a:r>
          </a:p>
          <a:p>
            <a:r>
              <a:rPr lang="en-US" sz="2400" dirty="0">
                <a:latin typeface="Times New Roman" panose="02020603050405020304" pitchFamily="18" charset="0"/>
                <a:cs typeface="Times New Roman" panose="02020603050405020304" pitchFamily="18" charset="0"/>
              </a:rPr>
              <a:t>To the vast majority of the population of India the Mughal Empire was essentially a foreign  Empire and on that account it could not expect to secure its existence upon a firm foundation of spontaneous popular support." Alien in its nature and administrative organization, it was feeble to induced such feelings as those as led to the people of Maharashtra to follow and fight for Shiva ji."</a:t>
            </a:r>
          </a:p>
        </p:txBody>
      </p:sp>
    </p:spTree>
    <p:extLst>
      <p:ext uri="{BB962C8B-B14F-4D97-AF65-F5344CB8AC3E}">
        <p14:creationId xmlns:p14="http://schemas.microsoft.com/office/powerpoint/2010/main" val="2111155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00A416-CBDD-1FCA-E87C-663A6755EFA2}"/>
              </a:ext>
            </a:extLst>
          </p:cNvPr>
          <p:cNvSpPr>
            <a:spLocks noGrp="1"/>
          </p:cNvSpPr>
          <p:nvPr>
            <p:ph idx="1"/>
          </p:nvPr>
        </p:nvSpPr>
        <p:spPr>
          <a:xfrm>
            <a:off x="1380744" y="960120"/>
            <a:ext cx="10561320" cy="4690872"/>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The last Great Mughal, Aurangzeb Alamgir, also considered being responsible for the decline of the Mughal Empire.</a:t>
            </a:r>
          </a:p>
          <a:p>
            <a:r>
              <a:rPr lang="en-US" sz="2400" dirty="0">
                <a:latin typeface="Times New Roman" panose="02020603050405020304" pitchFamily="18" charset="0"/>
                <a:cs typeface="Times New Roman" panose="02020603050405020304" pitchFamily="18" charset="0"/>
              </a:rPr>
              <a:t> His religious policy led to disunity and alienated the sympathy and support of the Hindus.’ </a:t>
            </a:r>
          </a:p>
          <a:p>
            <a:r>
              <a:rPr lang="en-US" sz="2400" dirty="0">
                <a:latin typeface="Times New Roman" panose="02020603050405020304" pitchFamily="18" charset="0"/>
                <a:cs typeface="Times New Roman" panose="02020603050405020304" pitchFamily="18" charset="0"/>
              </a:rPr>
              <a:t>The Deccan policy of Aurangzeb was also partly responsible for the downfall of the Mughal Empire. Although these policies did lead to weakening of the empire, </a:t>
            </a:r>
          </a:p>
          <a:p>
            <a:r>
              <a:rPr lang="en-US" sz="2400" dirty="0">
                <a:latin typeface="Times New Roman" panose="02020603050405020304" pitchFamily="18" charset="0"/>
                <a:cs typeface="Times New Roman" panose="02020603050405020304" pitchFamily="18" charset="0"/>
              </a:rPr>
              <a:t>the major cause of the decline was the lack of competent and worthy successors to Aurangzeb. They lacked qualities as were essential to deal with the affair of a kingdom.</a:t>
            </a:r>
          </a:p>
          <a:p>
            <a:r>
              <a:rPr lang="en-US" sz="2400" dirty="0">
                <a:latin typeface="Times New Roman" panose="02020603050405020304" pitchFamily="18" charset="0"/>
                <a:cs typeface="Times New Roman" panose="02020603050405020304" pitchFamily="18" charset="0"/>
              </a:rPr>
              <a:t> They, therefore, could not sustain the following empire once famous for grandeur and According to Stanley Lane-Poole, "As some imperial corpse preserved for ages in its dread seclusion, crowned and armed and still majestic, yet falls to the dust at the mere breath of heaven, so fell the Empire of the Mughals when the great name that warded it was no more-.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5614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FCE21-08A3-5610-45A7-FFB46A6C66C8}"/>
              </a:ext>
            </a:extLst>
          </p:cNvPr>
          <p:cNvSpPr>
            <a:spLocks noGrp="1"/>
          </p:cNvSpPr>
          <p:nvPr>
            <p:ph type="title"/>
          </p:nvPr>
        </p:nvSpPr>
        <p:spPr>
          <a:xfrm>
            <a:off x="1371600" y="685800"/>
            <a:ext cx="9601200" cy="1097280"/>
          </a:xfrm>
        </p:spPr>
        <p:txBody>
          <a:bodyPr>
            <a:normAutofit/>
          </a:bodyPr>
          <a:lstStyle/>
          <a:p>
            <a:r>
              <a:rPr lang="en-US" sz="3200" b="1" dirty="0">
                <a:latin typeface="Times New Roman" panose="02020603050405020304" pitchFamily="18" charset="0"/>
                <a:cs typeface="Times New Roman" panose="02020603050405020304" pitchFamily="18" charset="0"/>
              </a:rPr>
              <a:t>Factors contributing to administrative failure of Mughals</a:t>
            </a:r>
          </a:p>
        </p:txBody>
      </p:sp>
      <p:sp>
        <p:nvSpPr>
          <p:cNvPr id="3" name="Content Placeholder 2">
            <a:extLst>
              <a:ext uri="{FF2B5EF4-FFF2-40B4-BE49-F238E27FC236}">
                <a16:creationId xmlns:a16="http://schemas.microsoft.com/office/drawing/2014/main" id="{20017D76-7D98-025C-6FCD-BADAEA4AF434}"/>
              </a:ext>
            </a:extLst>
          </p:cNvPr>
          <p:cNvSpPr>
            <a:spLocks noGrp="1"/>
          </p:cNvSpPr>
          <p:nvPr>
            <p:ph idx="1"/>
          </p:nvPr>
        </p:nvSpPr>
        <p:spPr>
          <a:xfrm>
            <a:off x="1371600" y="1536192"/>
            <a:ext cx="9857232" cy="4535424"/>
          </a:xfrm>
        </p:spPr>
        <p:txBody>
          <a:bodyPr>
            <a:normAutofit/>
          </a:bodyPr>
          <a:lstStyle/>
          <a:p>
            <a:r>
              <a:rPr lang="en-US" sz="2400" dirty="0">
                <a:latin typeface="Times New Roman" panose="02020603050405020304" pitchFamily="18" charset="0"/>
                <a:cs typeface="Times New Roman" panose="02020603050405020304" pitchFamily="18" charset="0"/>
              </a:rPr>
              <a:t>1.	insufficient administrative machinery </a:t>
            </a:r>
          </a:p>
          <a:p>
            <a:r>
              <a:rPr lang="en-US" sz="2400" dirty="0">
                <a:latin typeface="Times New Roman" panose="02020603050405020304" pitchFamily="18" charset="0"/>
                <a:cs typeface="Times New Roman" panose="02020603050405020304" pitchFamily="18" charset="0"/>
              </a:rPr>
              <a:t>2.	Imperfect organization of Army</a:t>
            </a:r>
          </a:p>
          <a:p>
            <a:r>
              <a:rPr lang="en-US" sz="2400" dirty="0">
                <a:latin typeface="Times New Roman" panose="02020603050405020304" pitchFamily="18" charset="0"/>
                <a:cs typeface="Times New Roman" panose="02020603050405020304" pitchFamily="18" charset="0"/>
              </a:rPr>
              <a:t>3.	Expansion of the Empire</a:t>
            </a:r>
          </a:p>
          <a:p>
            <a:r>
              <a:rPr lang="en-US" sz="2400" dirty="0">
                <a:latin typeface="Times New Roman" panose="02020603050405020304" pitchFamily="18" charset="0"/>
                <a:cs typeface="Times New Roman" panose="02020603050405020304" pitchFamily="18" charset="0"/>
              </a:rPr>
              <a:t>4.	Lack of Passion of Knowledge and Scientific Research</a:t>
            </a:r>
          </a:p>
          <a:p>
            <a:r>
              <a:rPr lang="en-US" sz="2400" dirty="0">
                <a:latin typeface="Times New Roman" panose="02020603050405020304" pitchFamily="18" charset="0"/>
                <a:cs typeface="Times New Roman" panose="02020603050405020304" pitchFamily="18" charset="0"/>
              </a:rPr>
              <a:t>5.	Economic Crises</a:t>
            </a:r>
          </a:p>
          <a:p>
            <a:r>
              <a:rPr lang="en-US" sz="2400" dirty="0">
                <a:latin typeface="Times New Roman" panose="02020603050405020304" pitchFamily="18" charset="0"/>
                <a:cs typeface="Times New Roman" panose="02020603050405020304" pitchFamily="18" charset="0"/>
              </a:rPr>
              <a:t>6.	Incompetent Ruler</a:t>
            </a:r>
          </a:p>
          <a:p>
            <a:r>
              <a:rPr lang="en-US" sz="2400" dirty="0">
                <a:latin typeface="Times New Roman" panose="02020603050405020304" pitchFamily="18" charset="0"/>
                <a:cs typeface="Times New Roman" panose="02020603050405020304" pitchFamily="18" charset="0"/>
              </a:rPr>
              <a:t>7.	Rise of Sikh, Mahrattas &amp; Rajput</a:t>
            </a:r>
          </a:p>
          <a:p>
            <a:r>
              <a:rPr lang="en-US" sz="2400" dirty="0">
                <a:latin typeface="Times New Roman" panose="02020603050405020304" pitchFamily="18" charset="0"/>
                <a:cs typeface="Times New Roman" panose="02020603050405020304" pitchFamily="18" charset="0"/>
              </a:rPr>
              <a:t>8.	Foreign Incursion</a:t>
            </a:r>
          </a:p>
        </p:txBody>
      </p:sp>
    </p:spTree>
    <p:extLst>
      <p:ext uri="{BB962C8B-B14F-4D97-AF65-F5344CB8AC3E}">
        <p14:creationId xmlns:p14="http://schemas.microsoft.com/office/powerpoint/2010/main" val="148800616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{3C1E1E7B-0836-44E5-A477-5424EF23B242}tf10001105</Template>
  <TotalTime>121</TotalTime>
  <Words>2305</Words>
  <Application>Microsoft Office PowerPoint</Application>
  <PresentationFormat>Widescreen</PresentationFormat>
  <Paragraphs>75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Franklin Gothic Book</vt:lpstr>
      <vt:lpstr>Tahoma</vt:lpstr>
      <vt:lpstr>Times New Roman</vt:lpstr>
      <vt:lpstr>Crop</vt:lpstr>
      <vt:lpstr>Down Fall of  Mughal Empire 1707-1857 </vt:lpstr>
      <vt:lpstr>The Great Mughals</vt:lpstr>
      <vt:lpstr>Hamayun (1530-1540) , Akbar (1556-1605) &amp;  Jahangir (1605-1628)</vt:lpstr>
      <vt:lpstr>Shah Jahan (1628-1688) &amp; Aurangzeb (1658-1707)</vt:lpstr>
      <vt:lpstr>Down Fall of  Mughal Empire</vt:lpstr>
      <vt:lpstr>Later Mughal Emperors</vt:lpstr>
      <vt:lpstr>Nadir Shah Invasion 1738</vt:lpstr>
      <vt:lpstr>Causes of Nadir Shah Invasion</vt:lpstr>
      <vt:lpstr>PowerPoint Presentation</vt:lpstr>
      <vt:lpstr>Impact of Invasion</vt:lpstr>
      <vt:lpstr>Ahmad Shah Abdali : Exogenous reason of Decline</vt:lpstr>
      <vt:lpstr>CAUSES OF ABDALI'S INVASION  </vt:lpstr>
      <vt:lpstr>PowerPoint Presentation</vt:lpstr>
      <vt:lpstr> Impact of Ahmad Shah Abdali Invasion</vt:lpstr>
      <vt:lpstr>Downfall of Mughal Empire</vt:lpstr>
      <vt:lpstr>PowerPoint Presentation</vt:lpstr>
      <vt:lpstr>Factors contributing to administrative failure of Mughals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Down Fall of  Mughal Empire 1707-1857 </dc:title>
  <dc:creator>Asif Naveed</dc:creator>
  <cp:lastModifiedBy>Asif Naveed</cp:lastModifiedBy>
  <cp:revision>7</cp:revision>
  <dcterms:created xsi:type="dcterms:W3CDTF">2023-02-08T17:57:47Z</dcterms:created>
  <dcterms:modified xsi:type="dcterms:W3CDTF">2023-02-08T19:58:48Z</dcterms:modified>
</cp:coreProperties>
</file>